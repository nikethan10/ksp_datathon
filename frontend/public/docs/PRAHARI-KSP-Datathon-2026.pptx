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0352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45643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Team name: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2286000" y="34564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7307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Team leader name: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2286000" y="3730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Katir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00507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Team size: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4005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2793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Problem Statement: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2286000" y="42793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02 — AI-Driven Crime Analytics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45720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Members: Nikethan · Hari Nair · Katir · Dhikshitha · Nihan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3108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PRAHARI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553212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Crime Intelligence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 Platform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16,74,732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532120" y="41513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</a:t>
            </a:r>
            <a:endParaRPr lang="en-US" sz="600" dirty="0"/>
          </a:p>
        </p:txBody>
      </p:sp>
      <p:sp>
        <p:nvSpPr>
          <p:cNvPr id="17" name="Text 14"/>
          <p:cNvSpPr txBox="1"/>
          <p:nvPr/>
        </p:nvSpPr>
        <p:spPr>
          <a:xfrm>
            <a:off x="6592824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92824" y="41513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DISTRICTS</a:t>
            </a:r>
            <a:endParaRPr lang="en-US" sz="600" dirty="0"/>
          </a:p>
        </p:txBody>
      </p:sp>
      <p:sp>
        <p:nvSpPr>
          <p:cNvPr id="19" name="Text 16"/>
          <p:cNvSpPr txBox="1"/>
          <p:nvPr/>
        </p:nvSpPr>
        <p:spPr>
          <a:xfrm>
            <a:off x="7653528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1,074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653528" y="41513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</a:t>
            </a:r>
            <a:endParaRPr lang="en-US" sz="6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43891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Zoho Catalyst · Bilingual English / ಕನ್ನಡ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about the solution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PRAHARI turns 16.7 lakh Karnataka FIR records into one operational decision loop, and now takes reports from the public at the other end of it.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389888"/>
            <a:ext cx="8357616" cy="36576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393192" y="1389888"/>
            <a:ext cx="457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76072" y="13898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COMMAND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993392" y="1389888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State-wide picture: live alerts, STL intelligence headline, top districts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93192" y="1805940"/>
            <a:ext cx="8357616" cy="36576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393192" y="1805940"/>
            <a:ext cx="45720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6072" y="18059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INVESTIGATE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93392" y="1805940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dossier from record: timeline, co-accused, offence pattern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3192" y="2221992"/>
            <a:ext cx="8357616" cy="36576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</p:sp>
      <p:sp>
        <p:nvSpPr>
          <p:cNvPr id="14" name="Shape 11"/>
          <p:cNvSpPr/>
          <p:nvPr/>
        </p:nvSpPr>
        <p:spPr>
          <a:xfrm>
            <a:off x="393192" y="2221992"/>
            <a:ext cx="45720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6072" y="22219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CONNECT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993392" y="2221992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Co-offending network — 342k persons, 35,333 detected communities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3192" y="2638044"/>
            <a:ext cx="8357616" cy="36576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</p:sp>
      <p:sp>
        <p:nvSpPr>
          <p:cNvPr id="18" name="Shape 15"/>
          <p:cNvSpPr/>
          <p:nvPr/>
        </p:nvSpPr>
        <p:spPr>
          <a:xfrm>
            <a:off x="393192" y="2638044"/>
            <a:ext cx="4572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76072" y="26380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FORECAST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993392" y="263804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Gi* hotspots (p&lt;0.05), emerging lifecycle, LightGBM week-ahead risk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93192" y="3054096"/>
            <a:ext cx="8357616" cy="36576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</p:sp>
      <p:sp>
        <p:nvSpPr>
          <p:cNvPr id="22" name="Shape 19"/>
          <p:cNvSpPr/>
          <p:nvPr/>
        </p:nvSpPr>
        <p:spPr>
          <a:xfrm>
            <a:off x="393192" y="3054096"/>
            <a:ext cx="457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76072" y="30540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ACT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993392" y="3054096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ILP-optimised patrol deployment with printable briefing sheets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93192" y="3470148"/>
            <a:ext cx="8357616" cy="36576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</p:sp>
      <p:sp>
        <p:nvSpPr>
          <p:cNvPr id="26" name="Shape 23"/>
          <p:cNvSpPr/>
          <p:nvPr/>
        </p:nvSpPr>
        <p:spPr>
          <a:xfrm>
            <a:off x="393192" y="3470148"/>
            <a:ext cx="4572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76072" y="34701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REPLAY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993392" y="3470148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Week-by-week backtest on held-out 2024 data — 43.3% mean hit rate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93192" y="3886200"/>
            <a:ext cx="8357616" cy="36576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</p:sp>
      <p:sp>
        <p:nvSpPr>
          <p:cNvPr id="30" name="Shape 27"/>
          <p:cNvSpPr/>
          <p:nvPr/>
        </p:nvSpPr>
        <p:spPr>
          <a:xfrm>
            <a:off x="393192" y="3886200"/>
            <a:ext cx="457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76072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TRUST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993392" y="3886200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Calibration, SHAP attribution, fairness audit, stated limitations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93192" y="4302252"/>
            <a:ext cx="8357616" cy="36576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</p:sp>
      <p:sp>
        <p:nvSpPr>
          <p:cNvPr id="34" name="Shape 31"/>
          <p:cNvSpPr/>
          <p:nvPr/>
        </p:nvSpPr>
        <p:spPr>
          <a:xfrm>
            <a:off x="393192" y="4302252"/>
            <a:ext cx="457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76072" y="43022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REPORTS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993392" y="4302252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— triage queue for citizen reports filed through the public portal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393192" y="4828032"/>
            <a:ext cx="8357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portal sits on the marketing site; everything above is the officer console.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93192" y="1133856"/>
            <a:ext cx="8357616" cy="1133856"/>
          </a:xfrm>
          <a:prstGeom prst="roundRect">
            <a:avLst>
              <a:gd name="adj" fmla="val 4032"/>
            </a:avLst>
          </a:prstGeom>
          <a:solidFill>
            <a:srgbClr val="FAFAFA"/>
          </a:solidFill>
          <a:ln/>
        </p:spPr>
      </p:sp>
      <p:sp>
        <p:nvSpPr>
          <p:cNvPr id="5" name="Shape 2"/>
          <p:cNvSpPr/>
          <p:nvPr/>
        </p:nvSpPr>
        <p:spPr>
          <a:xfrm>
            <a:off x="393192" y="1133856"/>
            <a:ext cx="8357616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9496" y="1225296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different is it from other existing ideas?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30936" y="1444752"/>
            <a:ext cx="79004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Significance, not blur. Every cell is tested with Getis-Ord Gi* at p &lt; 0.05, so a hot cell is statistically real — not a kernel-density smear where busy and dangerous look identical.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closes at both ends. The public files a report; an officer triages it; a verified one becomes an FIR. Other dashboards stop at a map.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its worst week. REPLAY exposes the weakest result deliberately rather than reporting a flattering average.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93192" y="2359152"/>
            <a:ext cx="8357616" cy="1133856"/>
          </a:xfrm>
          <a:prstGeom prst="roundRect">
            <a:avLst>
              <a:gd name="adj" fmla="val 4032"/>
            </a:avLst>
          </a:prstGeom>
          <a:solidFill>
            <a:srgbClr val="FAFAFA"/>
          </a:solidFill>
          <a:ln/>
        </p:spPr>
      </p:sp>
      <p:sp>
        <p:nvSpPr>
          <p:cNvPr id="9" name="Shape 6"/>
          <p:cNvSpPr/>
          <p:nvPr/>
        </p:nvSpPr>
        <p:spPr>
          <a:xfrm>
            <a:off x="393192" y="2359152"/>
            <a:ext cx="8357616" cy="320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9496" y="2450592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it be able to solve the problem?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30936" y="2670048"/>
            <a:ext cx="79004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CCTNS tables are normalised into one queryable model, removing the cross-referencing that costs officer hours.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surface before the fact: STL flags departures with an 80% prediction interval, not a guessed confidence score.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becomes measurable: 11.67% risk coverage against a 9.87% volume-driven status quo — +18.2% at identical cost.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93192" y="3584448"/>
            <a:ext cx="8357616" cy="1133856"/>
          </a:xfrm>
          <a:prstGeom prst="roundRect">
            <a:avLst>
              <a:gd name="adj" fmla="val 4032"/>
            </a:avLst>
          </a:prstGeom>
          <a:solidFill>
            <a:srgbClr val="FAFAFA"/>
          </a:solidFill>
          <a:ln/>
        </p:spPr>
      </p:sp>
      <p:sp>
        <p:nvSpPr>
          <p:cNvPr id="13" name="Shape 10"/>
          <p:cNvSpPr/>
          <p:nvPr/>
        </p:nvSpPr>
        <p:spPr>
          <a:xfrm>
            <a:off x="393192" y="3584448"/>
            <a:ext cx="8357616" cy="320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9496" y="3675888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of the proposed solution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30936" y="3895344"/>
            <a:ext cx="79004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is auditable inside the product — calibration curve, SHAP, fairness audit and a written limitations page ship in the TRUST tab.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reports are structurally quarantined from the analytics, so accepting public input costs nothing in statistical credibility.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bilingual English / Kannada across all eight tabs and the public portal.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features offered by the solution  (1 / 3)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93192" y="1115568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02920" y="11612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24712" y="11521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hotspot mapping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24712" y="1335024"/>
            <a:ext cx="7443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Getis-Ord Gi* significance at p &lt; 0.05 across 16,650 grid cells; 722 confirmed hot cells. Hot and cold spots at three confidence bands each, filterable by 20 crime categories.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93192" y="1746504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17922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FR-2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1783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Emerging-pattern lifecycle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1965960"/>
            <a:ext cx="7443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every cell as New (192), Intensifying (943), Persistent or Cooling (96) by comparing recent activity against its own 24-month history with a Mann-Kendall trend test.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93192" y="2377440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24231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FR-3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24140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Week-ahead risk forecasting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2596896"/>
            <a:ext cx="7443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over near-repeat, temporal-lag and spatial-context features. Identifies 53.1% of next-week crime inside 5% of the map (PAI 10.63) on 405,476 held-out predictions.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93192" y="3008376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2920" y="30540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FR-4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044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&amp; alerting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3227832"/>
            <a:ext cx="7443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 decomposition per district-crime series. Departures reported as an excess count with an 80% prediction interval derived from residual dispersion.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93192" y="3639312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2920" y="36850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FR-5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1124712" y="3675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Patrol deployment optimiser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4712" y="3858768"/>
            <a:ext cx="7443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 Linear Programming places N units on the highest-risk reachable clusters at a 2 km beat radius. 11.67% coverage vs a 9.87% volume-driven baseline.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93192" y="4270248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2920" y="43159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FR-6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1124712" y="43068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Printable patrol briefing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124712" y="4489704"/>
            <a:ext cx="7443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Per-unit sheet with GPS position, 30-day incident count, cells covered, crime-type breakdown and heinous-case count. Black-on-white print layout for shift handover.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features offered by the solution  (2 / 3)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93192" y="1115568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02920" y="11612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FR-7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24712" y="11521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Co-offending network analysis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24712" y="1335024"/>
            <a:ext cx="7443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community detection over 341,803 offender nodes and 509,633 co-accusation links; modularity 0.978. Networks ranked by size and operational priority.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93192" y="1746504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17922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FR-8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1783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Offender dossier search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1965960"/>
            <a:ext cx="7443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name lookup assembling linked FIRs, co-accused with shared-FIR counts, district spread, arrest markers and offence-pattern breakdown from existing record.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93192" y="2377440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24231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FR-9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24140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Backtesting replay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2596896"/>
            <a:ext cx="7443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Replays held-out 2024 data week by week: forecast drawn, real FIRs plotted, week scored. 43.3% mean hit rate over 11 weeks with Best and Worst week controls.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93192" y="3008376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2920" y="30540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FR-10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044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&amp; fairness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3227832"/>
            <a:ext cx="7443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Isotonic-calibrated probabilities (0.3% calibration error), SHAP attributions in plain language, and a reporting-bias-adjusted fairness audit (Gini 0.183).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93192" y="3639312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2920" y="36850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FR-11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1124712" y="3675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interface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4712" y="3858768"/>
            <a:ext cx="7443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English / Kannada i18n across all eight tabs and the public portal — UI labels, district names, crime categories, tooltips and generated narratives.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93192" y="4270248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2920" y="43159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FR-12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1124712" y="43068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Cross-tab operational routing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124712" y="4489704"/>
            <a:ext cx="7443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Alerts, district cards and network nodes are actionable: each carries the officer to the matching Forecast, Deployment or Dossier view with context preserved.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features offered by the solution  (3 / 3)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this round — the public reporting portal and its officer-side triage.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389888"/>
            <a:ext cx="8357616" cy="548640"/>
          </a:xfrm>
          <a:prstGeom prst="roundRect">
            <a:avLst>
              <a:gd name="adj" fmla="val 8333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4356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FR-13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24712" y="14264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reporting portal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4712" y="1609344"/>
            <a:ext cx="7443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Three-step form on the public site. Email OTP verification, 20 crime categories shared with the pipeline, district or GPS location, and a consent gate.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93192" y="2002536"/>
            <a:ext cx="8357616" cy="548640"/>
          </a:xfrm>
          <a:prstGeom prst="roundRect">
            <a:avLst>
              <a:gd name="adj" fmla="val 8333"/>
            </a:avLst>
          </a:prstGeom>
          <a:solidFill>
            <a:srgbClr val="FAFA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" y="204825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FR-14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2039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and legal gating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4712" y="2221992"/>
            <a:ext cx="7443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"happening right now" stops the form and shows 112. Sexual Offences, Crimes Against Children and Kidnapping are refused outright and directed to a station.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93192" y="2615184"/>
            <a:ext cx="8357616" cy="548640"/>
          </a:xfrm>
          <a:prstGeom prst="roundRect">
            <a:avLst>
              <a:gd name="adj" fmla="val 8333"/>
            </a:avLst>
          </a:prstGeom>
          <a:solidFill>
            <a:srgbClr val="FAFA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2920" y="266090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FR-15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2651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Reference-number tracking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1124712" y="2834640"/>
            <a:ext cx="7443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report returns a PR- reference. The reporter can return, see status, answer a request for more information, or withdraw within 24 hours.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93192" y="3227832"/>
            <a:ext cx="8357616" cy="548640"/>
          </a:xfrm>
          <a:prstGeom prst="roundRect">
            <a:avLst>
              <a:gd name="adj" fmla="val 8333"/>
            </a:avLst>
          </a:prstGeom>
          <a:solidFill>
            <a:srgbClr val="FAFAF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2920" y="32735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FR-16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triage queue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124712" y="3447288"/>
            <a:ext cx="7443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Eighth console tab. Filterable queue, duplicate flagging, spam scoring, full lifecycle enforcement, and a redacted-vs-internal view split.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93192" y="3840480"/>
            <a:ext cx="8357616" cy="548640"/>
          </a:xfrm>
          <a:prstGeom prst="roundRect">
            <a:avLst>
              <a:gd name="adj" fmla="val 8333"/>
            </a:avLst>
          </a:prstGeom>
          <a:solidFill>
            <a:srgbClr val="FAFA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02920" y="388620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FR-17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1124712" y="3877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and spam defence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24712" y="4059936"/>
            <a:ext cx="7443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Spatial-temporal-textual duplicate detection on grapheme trigrams (works in Kannada). Additive spam scoring sinks junk to the bottom without hiding it.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93192" y="4453128"/>
            <a:ext cx="8357616" cy="548640"/>
          </a:xfrm>
          <a:prstGeom prst="roundRect">
            <a:avLst>
              <a:gd name="adj" fmla="val 8333"/>
            </a:avLst>
          </a:prstGeom>
          <a:solidFill>
            <a:srgbClr val="FAFAF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02920" y="44988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FR-18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124712" y="44897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 export gate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4712" y="4672584"/>
            <a:ext cx="7443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supervisor seals verified reports into a batch with a SHA-256 manifest. Sealing freezes the row. Nothing reaches the pipeline automatically.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 diagram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batch pipeline produces static artefacts; the console reads them with zero per-query compute.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481328"/>
            <a:ext cx="1261872" cy="932688"/>
          </a:xfrm>
          <a:prstGeom prst="roundRect">
            <a:avLst>
              <a:gd name="adj" fmla="val 4902"/>
            </a:avLst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393192" y="1481328"/>
            <a:ext cx="1261872" cy="3200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66344" y="15727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66344" y="179222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CCTNS export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raw tables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1659636" y="1481328"/>
            <a:ext cx="1554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10512" y="1481328"/>
            <a:ext cx="1261872" cy="932688"/>
          </a:xfrm>
          <a:prstGeom prst="roundRect">
            <a:avLst>
              <a:gd name="adj" fmla="val 4902"/>
            </a:avLst>
          </a:prstGeom>
          <a:solidFill>
            <a:srgbClr val="FA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1810512" y="1481328"/>
            <a:ext cx="1261872" cy="3200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883664" y="15727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883664" y="179222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schema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16.7L FIRs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3076956" y="1481328"/>
            <a:ext cx="1554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27832" y="1481328"/>
            <a:ext cx="1261872" cy="932688"/>
          </a:xfrm>
          <a:prstGeom prst="roundRect">
            <a:avLst>
              <a:gd name="adj" fmla="val 4902"/>
            </a:avLst>
          </a:prstGeom>
          <a:solidFill>
            <a:srgbClr val="FAFAFA"/>
          </a:solidFill>
          <a:ln/>
        </p:spPr>
      </p:sp>
      <p:sp>
        <p:nvSpPr>
          <p:cNvPr id="16" name="Shape 13"/>
          <p:cNvSpPr/>
          <p:nvPr/>
        </p:nvSpPr>
        <p:spPr>
          <a:xfrm>
            <a:off x="3227832" y="1481328"/>
            <a:ext cx="1261872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300984" y="15727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300984" y="179222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Gi* / LISA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 · Louvain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4494276" y="1481328"/>
            <a:ext cx="1554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45152" y="1481328"/>
            <a:ext cx="1261872" cy="932688"/>
          </a:xfrm>
          <a:prstGeom prst="roundRect">
            <a:avLst>
              <a:gd name="adj" fmla="val 4902"/>
            </a:avLst>
          </a:prstGeom>
          <a:solidFill>
            <a:srgbClr val="FAFAFA"/>
          </a:solidFill>
          <a:ln/>
        </p:spPr>
      </p:sp>
      <p:sp>
        <p:nvSpPr>
          <p:cNvPr id="21" name="Shape 18"/>
          <p:cNvSpPr/>
          <p:nvPr/>
        </p:nvSpPr>
        <p:spPr>
          <a:xfrm>
            <a:off x="4645152" y="1481328"/>
            <a:ext cx="1261872" cy="320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718304" y="15727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4718304" y="179222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risk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+ calib.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5911596" y="1481328"/>
            <a:ext cx="1554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62472" y="1481328"/>
            <a:ext cx="1261872" cy="932688"/>
          </a:xfrm>
          <a:prstGeom prst="roundRect">
            <a:avLst>
              <a:gd name="adj" fmla="val 4902"/>
            </a:avLst>
          </a:prstGeom>
          <a:solidFill>
            <a:srgbClr val="FAFAFA"/>
          </a:solidFill>
          <a:ln/>
        </p:spPr>
      </p:sp>
      <p:sp>
        <p:nvSpPr>
          <p:cNvPr id="26" name="Shape 23"/>
          <p:cNvSpPr/>
          <p:nvPr/>
        </p:nvSpPr>
        <p:spPr>
          <a:xfrm>
            <a:off x="6062472" y="1481328"/>
            <a:ext cx="1261872" cy="320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135624" y="15727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6135624" y="179222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 patrol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7328916" y="1481328"/>
            <a:ext cx="1554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479792" y="1481328"/>
            <a:ext cx="1261872" cy="932688"/>
          </a:xfrm>
          <a:prstGeom prst="roundRect">
            <a:avLst>
              <a:gd name="adj" fmla="val 4902"/>
            </a:avLst>
          </a:prstGeom>
          <a:solidFill>
            <a:srgbClr val="FAFAFA"/>
          </a:solidFill>
          <a:ln/>
        </p:spPr>
      </p:sp>
      <p:sp>
        <p:nvSpPr>
          <p:cNvPr id="31" name="Shape 28"/>
          <p:cNvSpPr/>
          <p:nvPr/>
        </p:nvSpPr>
        <p:spPr>
          <a:xfrm>
            <a:off x="7479792" y="1481328"/>
            <a:ext cx="1261872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552944" y="15727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7552944" y="179222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GeoJSON + JSON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artefacts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393192" y="2505456"/>
            <a:ext cx="8357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artefacts published to Catalyst Hosting / Stratus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393192" y="2779776"/>
            <a:ext cx="8357616" cy="118872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30352" y="28620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PRAHARI CONSOLE  ·  eight operational tabs, no backend call at read time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30352" y="3127248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30352" y="312724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1536192" y="3127248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536192" y="312724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2542032" y="3127248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542032" y="312724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3547872" y="3127248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3547872" y="312724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53712" y="3127248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553712" y="312724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5559552" y="3127248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559552" y="312724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650" dirty="0"/>
          </a:p>
        </p:txBody>
      </p:sp>
      <p:sp>
        <p:nvSpPr>
          <p:cNvPr id="49" name="Shape 46"/>
          <p:cNvSpPr/>
          <p:nvPr/>
        </p:nvSpPr>
        <p:spPr>
          <a:xfrm>
            <a:off x="6565392" y="3127248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565392" y="312724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7571232" y="3127248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7571232" y="312724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650" dirty="0"/>
          </a:p>
        </p:txBody>
      </p:sp>
      <p:sp>
        <p:nvSpPr>
          <p:cNvPr id="53" name="Text 50"/>
          <p:cNvSpPr txBox="1"/>
          <p:nvPr/>
        </p:nvSpPr>
        <p:spPr>
          <a:xfrm>
            <a:off x="530352" y="3529584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decision  →  patrol deployed  →  feedback logged  →  feeds the next retraining cycle</a:t>
            </a:r>
            <a:endParaRPr lang="en-US" sz="750" dirty="0"/>
          </a:p>
        </p:txBody>
      </p:sp>
      <p:sp>
        <p:nvSpPr>
          <p:cNvPr id="54" name="Text 51"/>
          <p:cNvSpPr txBox="1"/>
          <p:nvPr/>
        </p:nvSpPr>
        <p:spPr>
          <a:xfrm>
            <a:off x="530352" y="373075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recompute ≈ 22 min · scheduled nightly via Catalyst Cron · the console footer shows the last-run timestamp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393192" y="4059936"/>
            <a:ext cx="2676144" cy="749808"/>
          </a:xfrm>
          <a:prstGeom prst="roundRect">
            <a:avLst>
              <a:gd name="adj" fmla="val 6098"/>
            </a:avLst>
          </a:prstGeom>
          <a:solidFill>
            <a:srgbClr val="FAFAFA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521208" y="4123944"/>
            <a:ext cx="2420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Batch, not on-demand</a:t>
            </a:r>
            <a:endParaRPr lang="en-US" sz="800" dirty="0"/>
          </a:p>
        </p:txBody>
      </p:sp>
      <p:sp>
        <p:nvSpPr>
          <p:cNvPr id="57" name="Text 54"/>
          <p:cNvSpPr txBox="1"/>
          <p:nvPr/>
        </p:nvSpPr>
        <p:spPr>
          <a:xfrm>
            <a:off x="521208" y="4315968"/>
            <a:ext cx="2420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 the analysis runs while an officer waits. A slow model can never become a slow page.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3233928" y="4059936"/>
            <a:ext cx="2676144" cy="749808"/>
          </a:xfrm>
          <a:prstGeom prst="roundRect">
            <a:avLst>
              <a:gd name="adj" fmla="val 6098"/>
            </a:avLst>
          </a:prstGeom>
          <a:solidFill>
            <a:srgbClr val="FAFAFA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3361944" y="4123944"/>
            <a:ext cx="2420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is testable</a:t>
            </a:r>
            <a:endParaRPr lang="en-US" sz="800" dirty="0"/>
          </a:p>
        </p:txBody>
      </p:sp>
      <p:sp>
        <p:nvSpPr>
          <p:cNvPr id="60" name="Text 57"/>
          <p:cNvSpPr txBox="1"/>
          <p:nvPr/>
        </p:nvSpPr>
        <p:spPr>
          <a:xfrm>
            <a:off x="3361944" y="4315968"/>
            <a:ext cx="2420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writes a file the next step reads, so a wrong number traces to the stage that produced it.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6074664" y="4059936"/>
            <a:ext cx="2676144" cy="749808"/>
          </a:xfrm>
          <a:prstGeom prst="roundRect">
            <a:avLst>
              <a:gd name="adj" fmla="val 6098"/>
            </a:avLst>
          </a:prstGeom>
          <a:solidFill>
            <a:srgbClr val="FAFAFA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6202680" y="4123944"/>
            <a:ext cx="2420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re-enters at ingest</a:t>
            </a:r>
            <a:endParaRPr lang="en-US" sz="800" dirty="0"/>
          </a:p>
        </p:txBody>
      </p:sp>
      <p:sp>
        <p:nvSpPr>
          <p:cNvPr id="63" name="Text 60"/>
          <p:cNvSpPr txBox="1"/>
          <p:nvPr/>
        </p:nvSpPr>
        <p:spPr>
          <a:xfrm>
            <a:off x="6202680" y="4315968"/>
            <a:ext cx="2420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reject signals are captured at the console and rejoin at the next recompute.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 — a citizen report, end to end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path with a human gate in the middle. Nothing on this diagram reaches the analytics automatically.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463040"/>
            <a:ext cx="1316736" cy="1298448"/>
          </a:xfrm>
          <a:prstGeom prst="roundRect">
            <a:avLst>
              <a:gd name="adj" fmla="val 3521"/>
            </a:avLst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393192" y="1463040"/>
            <a:ext cx="1316736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484632" y="1554480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56362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84632" y="1847088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portal.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OTP, category,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location, consent.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1810512" y="1463040"/>
            <a:ext cx="1316736" cy="1298448"/>
          </a:xfrm>
          <a:prstGeom prst="roundRect">
            <a:avLst>
              <a:gd name="adj" fmla="val 3521"/>
            </a:avLst>
          </a:prstGeom>
          <a:solidFill>
            <a:srgbClr val="FAFAFA"/>
          </a:solidFill>
          <a:ln/>
        </p:spPr>
      </p:sp>
      <p:sp>
        <p:nvSpPr>
          <p:cNvPr id="12" name="Shape 9"/>
          <p:cNvSpPr/>
          <p:nvPr/>
        </p:nvSpPr>
        <p:spPr>
          <a:xfrm>
            <a:off x="1810512" y="1463040"/>
            <a:ext cx="1316736" cy="3200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Shape 10"/>
          <p:cNvSpPr/>
          <p:nvPr/>
        </p:nvSpPr>
        <p:spPr>
          <a:xfrm>
            <a:off x="1901952" y="1554480"/>
            <a:ext cx="237744" cy="23774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901952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156362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901952" y="1847088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+ spam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at submit.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auto-rejects.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3227832" y="1463040"/>
            <a:ext cx="1316736" cy="1298448"/>
          </a:xfrm>
          <a:prstGeom prst="roundRect">
            <a:avLst>
              <a:gd name="adj" fmla="val 3521"/>
            </a:avLst>
          </a:prstGeom>
          <a:solidFill>
            <a:srgbClr val="FAFAFA"/>
          </a:solidFill>
          <a:ln/>
        </p:spPr>
      </p:sp>
      <p:sp>
        <p:nvSpPr>
          <p:cNvPr id="18" name="Shape 15"/>
          <p:cNvSpPr/>
          <p:nvPr/>
        </p:nvSpPr>
        <p:spPr>
          <a:xfrm>
            <a:off x="3227832" y="1463040"/>
            <a:ext cx="1316736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6"/>
          <p:cNvSpPr/>
          <p:nvPr/>
        </p:nvSpPr>
        <p:spPr>
          <a:xfrm>
            <a:off x="3319272" y="1554480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319272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156362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3319272" y="1847088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reviews in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REPORTS tab.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enforced.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4645152" y="1463040"/>
            <a:ext cx="1316736" cy="1298448"/>
          </a:xfrm>
          <a:prstGeom prst="roundRect">
            <a:avLst>
              <a:gd name="adj" fmla="val 3521"/>
            </a:avLst>
          </a:prstGeom>
          <a:solidFill>
            <a:srgbClr val="FAFAFA"/>
          </a:solidFill>
          <a:ln/>
        </p:spPr>
      </p:sp>
      <p:sp>
        <p:nvSpPr>
          <p:cNvPr id="24" name="Shape 21"/>
          <p:cNvSpPr/>
          <p:nvPr/>
        </p:nvSpPr>
        <p:spPr>
          <a:xfrm>
            <a:off x="4645152" y="1463040"/>
            <a:ext cx="1316736" cy="320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2"/>
          <p:cNvSpPr/>
          <p:nvPr/>
        </p:nvSpPr>
        <p:spPr>
          <a:xfrm>
            <a:off x="4736592" y="1554480"/>
            <a:ext cx="237744" cy="23774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736592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0" y="156362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736592" y="1847088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an FIR with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FIR number.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case decision.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6062472" y="1463040"/>
            <a:ext cx="1316736" cy="1298448"/>
          </a:xfrm>
          <a:prstGeom prst="roundRect">
            <a:avLst>
              <a:gd name="adj" fmla="val 3521"/>
            </a:avLst>
          </a:prstGeom>
          <a:solidFill>
            <a:srgbClr val="FAFAFA"/>
          </a:solidFill>
          <a:ln/>
        </p:spPr>
      </p:sp>
      <p:sp>
        <p:nvSpPr>
          <p:cNvPr id="30" name="Shape 27"/>
          <p:cNvSpPr/>
          <p:nvPr/>
        </p:nvSpPr>
        <p:spPr>
          <a:xfrm>
            <a:off x="6062472" y="1463040"/>
            <a:ext cx="1316736" cy="320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Shape 28"/>
          <p:cNvSpPr/>
          <p:nvPr/>
        </p:nvSpPr>
        <p:spPr>
          <a:xfrm>
            <a:off x="6153912" y="1554480"/>
            <a:ext cx="237744" cy="2377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53912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6446520" y="156362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6153912" y="1847088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seals 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batch. SHA-256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manifest. Row frozen.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479792" y="1463040"/>
            <a:ext cx="1316736" cy="1298448"/>
          </a:xfrm>
          <a:prstGeom prst="roundRect">
            <a:avLst>
              <a:gd name="adj" fmla="val 3521"/>
            </a:avLst>
          </a:prstGeom>
          <a:solidFill>
            <a:srgbClr val="FAFAFA"/>
          </a:solidFill>
          <a:ln/>
        </p:spPr>
      </p:sp>
      <p:sp>
        <p:nvSpPr>
          <p:cNvPr id="36" name="Shape 33"/>
          <p:cNvSpPr/>
          <p:nvPr/>
        </p:nvSpPr>
        <p:spPr>
          <a:xfrm>
            <a:off x="7479792" y="1463040"/>
            <a:ext cx="1316736" cy="320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Shape 34"/>
          <p:cNvSpPr/>
          <p:nvPr/>
        </p:nvSpPr>
        <p:spPr>
          <a:xfrm>
            <a:off x="7571232" y="1554480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571232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7863840" y="156362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7571232" y="1847088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moves the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to the pipeline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inbox. No automation.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93192" y="2907792"/>
            <a:ext cx="8357616" cy="786384"/>
          </a:xfrm>
          <a:prstGeom prst="roundRect">
            <a:avLst>
              <a:gd name="adj" fmla="val 5814"/>
            </a:avLst>
          </a:prstGeom>
          <a:solidFill>
            <a:srgbClr val="FEF2F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39496" y="2980944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AIR GAP IS A PERSON WITH A FILE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539496" y="3200400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network path from the report store to the analytics pipeline. No cron writes into the repository, and no pipeline process reaches into the database. A supervisor downloads a sealed batch and places the file in an inbox directory. Even then, main.py only reads it behind an explicit --include-citizen-firs flag, which is off by default — so a plain pipeline run still reproduces the published numbers byte for byte.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93192" y="3803904"/>
            <a:ext cx="8357616" cy="969264"/>
          </a:xfrm>
          <a:prstGeom prst="roundRect">
            <a:avLst>
              <a:gd name="adj" fmla="val 4717"/>
            </a:avLst>
          </a:prstGeom>
          <a:solidFill>
            <a:srgbClr val="FAFAFA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539496" y="3877056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PIPELINE RECEIVES — AND WHAT IT NEVER SEES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539496" y="4096512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Exported: reference, FIR number, district, crime type, incident date, coordinates, who verified it, when, and the batch id.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539496" y="4315968"/>
            <a:ext cx="8065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exported: the description, the reporter's email or name, attachments, spam score, officer notes, or the case history. The pipeline receives no free text and no personal data — which is what makes the export legally exportable at all.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/ Mock diagrams of the proposed solution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shell across every console tab: masthead, live alert ticker, working canvas, and a rail carrying the evidence for what the canvas shows.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481328"/>
            <a:ext cx="402336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3192" y="1481328"/>
            <a:ext cx="4023360" cy="25603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66344" y="148132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PRAHARI · situation · search · 01–08 tabs · ಕ · ?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93192" y="1737360"/>
            <a:ext cx="4023360" cy="173736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66344" y="1737360"/>
            <a:ext cx="3877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TICKER · 20 alerts cycling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93192" y="1911096"/>
            <a:ext cx="2735885" cy="166420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93192" y="1911096"/>
            <a:ext cx="2735885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/ GRAPH CANVAS</a:t>
            </a:r>
            <a:endParaRPr lang="en-US" sz="750" dirty="0"/>
          </a:p>
          <a:p>
            <a:pPr algn="ctr" indent="0" marL="0">
              <a:buNone/>
            </a:pP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auto-fitted to container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129077" y="1911096"/>
            <a:ext cx="1287475" cy="166420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83941" y="1993392"/>
            <a:ext cx="11777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183941" y="2157984"/>
            <a:ext cx="1177747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183941" y="2377440"/>
            <a:ext cx="11777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ALERTS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3183941" y="2542032"/>
            <a:ext cx="1177747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183941" y="2761488"/>
            <a:ext cx="11777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3183941" y="2926080"/>
            <a:ext cx="1177747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183941" y="3145536"/>
            <a:ext cx="11777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DISTRICTS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3183941" y="3310128"/>
            <a:ext cx="1177747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Shape 18"/>
          <p:cNvSpPr/>
          <p:nvPr/>
        </p:nvSpPr>
        <p:spPr>
          <a:xfrm>
            <a:off x="393192" y="3575304"/>
            <a:ext cx="4023360" cy="19202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6344" y="3575304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16,74,732 FIRs · 2016–2024 · 37 districts · analytics computed</a:t>
            </a:r>
            <a:endParaRPr lang="en-US" sz="550" dirty="0"/>
          </a:p>
        </p:txBody>
      </p:sp>
      <p:sp>
        <p:nvSpPr>
          <p:cNvPr id="23" name="Text 20"/>
          <p:cNvSpPr txBox="1"/>
          <p:nvPr/>
        </p:nvSpPr>
        <p:spPr>
          <a:xfrm>
            <a:off x="393192" y="38130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shell — common to all eight tabs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4709160" y="1481328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left, evidence right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4709160" y="166420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holds a full-height column so Karnataka fits the container instead of being cropped by a panel band underneath it.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4709160" y="2176272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rail is actionable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4709160" y="2359152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alert, district row and person card is a control — clicking flies the map, opens a dossier, or jumps to the matching forecast.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4709160" y="2871216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skeleton, different payload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709160" y="3054096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swaps the canvas for three lenses, ACT for the deployment map, REPORTS for the triage queue. The officer never relearns the layout.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4709160" y="3566160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is designed, not accidental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4709160" y="374904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notes sit behind a disclosure rather than on screen permanently, so the working surface stays readable at a glance.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393192" y="4279392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21208" y="4334256"/>
            <a:ext cx="8101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surface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" y="4517136"/>
            <a:ext cx="8101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→ Report an issue (3-step form) → reference number → Check status. Same design system, no console chrome, no login.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of the proposed solution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93192" y="1133856"/>
            <a:ext cx="8357616" cy="1024128"/>
          </a:xfrm>
          <a:prstGeom prst="roundRect">
            <a:avLst>
              <a:gd name="adj" fmla="val 4464"/>
            </a:avLst>
          </a:prstGeom>
          <a:solidFill>
            <a:srgbClr val="FAFAFA"/>
          </a:solidFill>
          <a:ln/>
        </p:spPr>
      </p:sp>
      <p:sp>
        <p:nvSpPr>
          <p:cNvPr id="5" name="Shape 2"/>
          <p:cNvSpPr/>
          <p:nvPr/>
        </p:nvSpPr>
        <p:spPr>
          <a:xfrm>
            <a:off x="393192" y="1133856"/>
            <a:ext cx="835761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21615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TIER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426464"/>
            <a:ext cx="79004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TypeScript · Vite 8 · Tailwind CSS v4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GL + deck.gl (GeoJSON, Scatterplot, Column layers)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routing · lazy-loaded views · 288 kB initial JS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 provider — English / Kannada across console and public portal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93192" y="2286000"/>
            <a:ext cx="8357616" cy="1024128"/>
          </a:xfrm>
          <a:prstGeom prst="roundRect">
            <a:avLst>
              <a:gd name="adj" fmla="val 4464"/>
            </a:avLst>
          </a:prstGeom>
          <a:solidFill>
            <a:srgbClr val="FAFAFA"/>
          </a:solidFill>
          <a:ln/>
        </p:spPr>
      </p:sp>
      <p:sp>
        <p:nvSpPr>
          <p:cNvPr id="9" name="Shape 6"/>
          <p:cNvSpPr/>
          <p:nvPr/>
        </p:nvSpPr>
        <p:spPr>
          <a:xfrm>
            <a:off x="393192" y="2286000"/>
            <a:ext cx="835761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0352" y="2368296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TIER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578608"/>
            <a:ext cx="79004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normalisation over eight CCTNS tables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libpysal + esda — Getis-Ord Gi* and LISA significance testing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risk model · STL anomaly decomposition · SHAP attribution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+ Louvain community detection · OR-Tools / PuLP ILP optimiser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93192" y="3438144"/>
            <a:ext cx="8357616" cy="1024128"/>
          </a:xfrm>
          <a:prstGeom prst="roundRect">
            <a:avLst>
              <a:gd name="adj" fmla="val 4464"/>
            </a:avLst>
          </a:prstGeom>
          <a:solidFill>
            <a:srgbClr val="FAFAFA"/>
          </a:solidFill>
          <a:ln/>
        </p:spPr>
      </p:sp>
      <p:sp>
        <p:nvSpPr>
          <p:cNvPr id="13" name="Shape 10"/>
          <p:cNvSpPr/>
          <p:nvPr/>
        </p:nvSpPr>
        <p:spPr>
          <a:xfrm>
            <a:off x="393192" y="3438144"/>
            <a:ext cx="8357616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0352" y="352044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TIER  ·  separate by design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" y="3730752"/>
            <a:ext cx="79004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interface with two adapters — local (no credentials) and Catalyst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table pinned to a shared JSON fixture by a parity test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detection on the same 1 km lattice the pipeline uses (grid_params.json)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over HTTP, never through the artefact cache — two visibly different transports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393192" y="4572000"/>
            <a:ext cx="8357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flows downward at build time (nightly batch); the console reads pre-computed artefacts upward at request time — no analytics run on the request path.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why citizen reports are quarantined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most important design decision in this round.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389888"/>
            <a:ext cx="4041648" cy="1572768"/>
          </a:xfrm>
          <a:prstGeom prst="roundRect">
            <a:avLst>
              <a:gd name="adj" fmla="val 2907"/>
            </a:avLst>
          </a:prstGeom>
          <a:solidFill>
            <a:srgbClr val="FE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9496" y="1463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MIXING THEM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539496" y="1682496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 are verified legal records. Citizen reports are unverified, duplicate-prone, spam-prone, and carry a completely different selection bias — who owns a phone, who has signal, who trusts the police.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Feeding them into the Gi* test or the LightGBM model would invalidate the significance results and the calibration that the TRUST tab defends in public.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709160" y="1389888"/>
            <a:ext cx="4041648" cy="1572768"/>
          </a:xfrm>
          <a:prstGeom prst="roundRect">
            <a:avLst>
              <a:gd name="adj" fmla="val 2907"/>
            </a:avLst>
          </a:prstGeom>
          <a:solidFill>
            <a:srgbClr val="ECFD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55464" y="1463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SEPARATION IS ENFORCED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4855464" y="1682496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store, separate module, separate transport. Reports never enter copy_data.py's publish allowlist — the physical boundary between report data and published analytics.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map they render as their own layer, in a colour neither palette uses, at a FIXED radius: a hotspot scales with its count because that count is a statistic; a report does not have that weight.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93192" y="3108960"/>
            <a:ext cx="5394960" cy="1719072"/>
          </a:xfrm>
          <a:prstGeom prst="roundRect">
            <a:avLst>
              <a:gd name="adj" fmla="val 2660"/>
            </a:avLst>
          </a:prstGeom>
          <a:solidFill>
            <a:srgbClr val="F3F4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496" y="3200400"/>
            <a:ext cx="5102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WE HOLD OURSELVES TO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39496" y="3419856"/>
            <a:ext cx="510235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Toggling the citizen layer must not move a single number anywhere on screen — not a hot-cell count, not an alert count, not a district total.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figure responds to that toggle, the separation is a lie and the TRUST tab's claims become false. This is verified in the browser by capturing every figure on the panel, flipping the layer, and comparing — not assumed.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84748" y="3086100"/>
            <a:ext cx="2788920" cy="1760220"/>
          </a:xfrm>
          <a:prstGeom prst="roundRect">
            <a:avLst>
              <a:gd name="adj" fmla="val 2078"/>
            </a:avLst>
          </a:prstGeom>
          <a:solidFill>
            <a:srgbClr val="D1D5DB"/>
          </a:solidFill>
          <a:ln/>
        </p:spPr>
      </p:sp>
      <p:pic>
        <p:nvPicPr>
          <p:cNvPr id="15" name="Image 1" descr="C:\Users\tirum\OneDrive\Desktop\PRAHARI\screenshots\command_citizen_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3108960"/>
            <a:ext cx="2743200" cy="17145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007608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"Not part of the analysis", off by default.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to be used in the solution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93192" y="1133856"/>
            <a:ext cx="1979676" cy="1975104"/>
          </a:xfrm>
          <a:prstGeom prst="roundRect">
            <a:avLst>
              <a:gd name="adj" fmla="val 2315"/>
            </a:avLst>
          </a:prstGeom>
          <a:solidFill>
            <a:srgbClr val="FAFAFA"/>
          </a:solidFill>
          <a:ln/>
        </p:spPr>
      </p:sp>
      <p:sp>
        <p:nvSpPr>
          <p:cNvPr id="5" name="Shape 2"/>
          <p:cNvSpPr/>
          <p:nvPr/>
        </p:nvSpPr>
        <p:spPr>
          <a:xfrm>
            <a:off x="393192" y="1133856"/>
            <a:ext cx="197967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225296"/>
            <a:ext cx="1760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76072" y="1463040"/>
            <a:ext cx="16687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8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GL JS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deck.gl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519172" y="1133856"/>
            <a:ext cx="1979676" cy="1975104"/>
          </a:xfrm>
          <a:prstGeom prst="roundRect">
            <a:avLst>
              <a:gd name="adj" fmla="val 2315"/>
            </a:avLst>
          </a:prstGeom>
          <a:solidFill>
            <a:srgbClr val="FAFAFA"/>
          </a:solidFill>
          <a:ln/>
        </p:spPr>
      </p:sp>
      <p:sp>
        <p:nvSpPr>
          <p:cNvPr id="9" name="Shape 6"/>
          <p:cNvSpPr/>
          <p:nvPr/>
        </p:nvSpPr>
        <p:spPr>
          <a:xfrm>
            <a:off x="2519172" y="1133856"/>
            <a:ext cx="197967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628900" y="1225296"/>
            <a:ext cx="1760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ML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2702052" y="1463040"/>
            <a:ext cx="16687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/ NumPy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libpysal + esda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statsmodels (STL)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+ Louvain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645152" y="1133856"/>
            <a:ext cx="1979676" cy="1975104"/>
          </a:xfrm>
          <a:prstGeom prst="roundRect">
            <a:avLst>
              <a:gd name="adj" fmla="val 2315"/>
            </a:avLst>
          </a:prstGeom>
          <a:solidFill>
            <a:srgbClr val="FAFA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645152" y="1133856"/>
            <a:ext cx="197967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54880" y="1225296"/>
            <a:ext cx="1760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828032" y="1463040"/>
            <a:ext cx="16687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OR-Tools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PuLP (ILP)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heuristic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verification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GeoPandas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Shapely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indexing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GeoJSON tooling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771132" y="1133856"/>
            <a:ext cx="1979676" cy="1975104"/>
          </a:xfrm>
          <a:prstGeom prst="roundRect">
            <a:avLst>
              <a:gd name="adj" fmla="val 2315"/>
            </a:avLst>
          </a:prstGeom>
          <a:solidFill>
            <a:srgbClr val="FAFAFA"/>
          </a:solidFill>
          <a:ln/>
        </p:spPr>
      </p:sp>
      <p:sp>
        <p:nvSpPr>
          <p:cNvPr id="17" name="Shape 14"/>
          <p:cNvSpPr/>
          <p:nvPr/>
        </p:nvSpPr>
        <p:spPr>
          <a:xfrm>
            <a:off x="6771132" y="1133856"/>
            <a:ext cx="1979676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80860" y="1225296"/>
            <a:ext cx="1760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Tooling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954012" y="1463040"/>
            <a:ext cx="16687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Catalyst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CLI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Brevo (email OTP)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oxlint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 project refs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tiles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393192" y="3255264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choices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93192" y="3511296"/>
            <a:ext cx="2676144" cy="969264"/>
          </a:xfrm>
          <a:prstGeom prst="roundRect">
            <a:avLst>
              <a:gd name="adj" fmla="val 4717"/>
            </a:avLst>
          </a:prstGeom>
          <a:solidFill>
            <a:srgbClr val="F3F4F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21208" y="3584448"/>
            <a:ext cx="2420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 over density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521208" y="3776472"/>
            <a:ext cx="242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libpysal / esda give a published, citable Gi* implementation, so a hot cell survives a methodology question rather than resting on a smoothing parameter.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233928" y="3511296"/>
            <a:ext cx="2676144" cy="969264"/>
          </a:xfrm>
          <a:prstGeom prst="roundRect">
            <a:avLst>
              <a:gd name="adj" fmla="val 4717"/>
            </a:avLst>
          </a:prstGeom>
          <a:solidFill>
            <a:srgbClr val="F3F4F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361944" y="3584448"/>
            <a:ext cx="2420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Pre-compute, then serve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3361944" y="3776472"/>
            <a:ext cx="242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analysis runs nightly in Python; the console ships static artefacts. No model runs on the request path, so cost and latency stay flat as usage grows.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074664" y="3511296"/>
            <a:ext cx="2676144" cy="969264"/>
          </a:xfrm>
          <a:prstGeom prst="roundRect">
            <a:avLst>
              <a:gd name="adj" fmla="val 4717"/>
            </a:avLst>
          </a:prstGeom>
          <a:solidFill>
            <a:srgbClr val="F3F4F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202680" y="3584448"/>
            <a:ext cx="2420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answer, fast path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6202680" y="3776472"/>
            <a:ext cx="242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PuLP solves the deployment ILP exactly and a greedy heuristic serves the UI. Both numbers are shown, so the fast path is verifiable rather than assumed.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393192" y="4590288"/>
            <a:ext cx="8357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gates on every change: tsc project build, production Vite build, 83 passing tests, and zero new oxlint warnings.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Services being used in the solution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93192" y="1170432"/>
            <a:ext cx="8357616" cy="23774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02920" y="11704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2286000" y="1170432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PRAHARI USES IT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17043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393192" y="1408176"/>
            <a:ext cx="8357616" cy="4572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14081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Hosting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2286000" y="1408176"/>
            <a:ext cx="5340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the React console, the public site and every pre-computed analytics artefact as static files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7717536" y="152704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17536" y="1527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393192" y="1865376"/>
            <a:ext cx="8357616" cy="731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2920" y="18653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Functions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1865376"/>
            <a:ext cx="5340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I/O function for the report API — OTP, submit, triage, export and seal endpoints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7717536" y="198424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17536" y="19842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393192" y="2322576"/>
            <a:ext cx="8357616" cy="731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Shape 16"/>
          <p:cNvSpPr/>
          <p:nvPr/>
        </p:nvSpPr>
        <p:spPr>
          <a:xfrm>
            <a:off x="393192" y="2322576"/>
            <a:ext cx="8357616" cy="4572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02920" y="23225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Data Store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2286000" y="2322576"/>
            <a:ext cx="5340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tables: reporters, OTP challenges, reports, events, attachments, audit log, officers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717536" y="244144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17536" y="24414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393192" y="2779776"/>
            <a:ext cx="8357616" cy="731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2920" y="27797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Stratus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2286000" y="2779776"/>
            <a:ext cx="5340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 for hotspot GeoJSON surfaces (~84 MB) and citizen report attachments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7717536" y="289864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717536" y="2898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393192" y="3236976"/>
            <a:ext cx="8357616" cy="731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0" name="Shape 27"/>
          <p:cNvSpPr/>
          <p:nvPr/>
        </p:nvSpPr>
        <p:spPr>
          <a:xfrm>
            <a:off x="393192" y="3236976"/>
            <a:ext cx="8357616" cy="4572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02920" y="32369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Cron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2286000" y="3236976"/>
            <a:ext cx="5340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recompute of hotspots, risk surface, anomaly feed and patrol assignments (~22 min)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717536" y="335584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717536" y="33558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393192" y="3694176"/>
            <a:ext cx="8357616" cy="731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02920" y="36941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Auth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2286000" y="3694176"/>
            <a:ext cx="5340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and supervisor identity for the triage queue and the sealed-export gate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7717536" y="381304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717536" y="3813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393192" y="4151376"/>
            <a:ext cx="8357616" cy="731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93192" y="4261104"/>
            <a:ext cx="8357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Catalyst Hosting is live and verifiable by a judge in ten seconds. The report backend is fully specified — table schemas, endpoint contracts, rate limits and the transition validator — and the frontend already runs against that interface through a local adapter, so activating it is an adapter swap rather than a rewrite. We would rather state that plainly than claim a service the deployment does not yet touch.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implementation cost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93192" y="1152144"/>
            <a:ext cx="8357616" cy="530352"/>
          </a:xfrm>
          <a:prstGeom prst="roundRect">
            <a:avLst>
              <a:gd name="adj" fmla="val 8621"/>
            </a:avLst>
          </a:prstGeom>
          <a:solidFill>
            <a:srgbClr val="ECFDF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21208" y="12161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(current)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521208" y="1417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0 / month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587752" y="1152144"/>
            <a:ext cx="6025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free tier covers hosting, static artefact delivery and every active feature. Analytics run offline. No per-query compute cost.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93192" y="1755648"/>
            <a:ext cx="8357616" cy="530352"/>
          </a:xfrm>
          <a:prstGeom prst="roundRect">
            <a:avLst>
              <a:gd name="adj" fmla="val 8621"/>
            </a:avLst>
          </a:prstGeom>
          <a:solidFill>
            <a:srgbClr val="FAFA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21208" y="18196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Cron execution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521208" y="20208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~500 / month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587752" y="1755648"/>
            <a:ext cx="6025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Catalyst Cron job triggers the pipeline recompute (~22 min) each night, at Catalyst standard Cron pricing.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93192" y="2359152"/>
            <a:ext cx="8357616" cy="530352"/>
          </a:xfrm>
          <a:prstGeom prst="roundRect">
            <a:avLst>
              <a:gd name="adj" fmla="val 8621"/>
            </a:avLst>
          </a:prstGeom>
          <a:solidFill>
            <a:srgbClr val="FAFA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21208" y="2423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 storage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21208" y="2624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~800 / month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587752" y="2359152"/>
            <a:ext cx="6025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Normalised CCTNS tables plus citizen reports and audit rows — roughly 2 GB for the full Karnataka dataset.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93192" y="2962656"/>
            <a:ext cx="8357616" cy="530352"/>
          </a:xfrm>
          <a:prstGeom prst="roundRect">
            <a:avLst>
              <a:gd name="adj" fmla="val 8621"/>
            </a:avLst>
          </a:prstGeom>
          <a:solidFill>
            <a:srgbClr val="FAFA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1208" y="3026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Stratus object storage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21208" y="32278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~200 / month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587752" y="2962656"/>
            <a:ext cx="6025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GeoJSON hotspot surfaces and model artefacts (~84 MB), plus report attachments capped at 5 MB each.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93192" y="3566160"/>
            <a:ext cx="8357616" cy="530352"/>
          </a:xfrm>
          <a:prstGeom prst="roundRect">
            <a:avLst>
              <a:gd name="adj" fmla="val 8621"/>
            </a:avLst>
          </a:prstGeom>
          <a:solidFill>
            <a:srgbClr val="ECFDF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21208" y="3630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OTP (Brevo)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21208" y="3831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0 / month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2587752" y="3566160"/>
            <a:ext cx="6025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covers 300 transactional emails a day — far more than a district pilot needs for verification codes.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93192" y="4206240"/>
            <a:ext cx="8357616" cy="475488"/>
          </a:xfrm>
          <a:prstGeom prst="roundRect">
            <a:avLst>
              <a:gd name="adj" fmla="val 9615"/>
            </a:avLst>
          </a:prstGeom>
          <a:solidFill>
            <a:srgbClr val="F3F4F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21208" y="42611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at production scale  ≈  Rs 1,500 / month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3913632" y="4206240"/>
            <a:ext cx="4700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are pre-computed, so there is no per-officer-request compute charge. Cost stays effectively flat as the number of officers using the console grows.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prototype  (1 / 6)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at 1280 x 800 from the running console.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70332" y="1421892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6" name="Image 1" descr="C:\Users\tirum\OneDrive\Desktop\PRAHARI\screenshots\comm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444752"/>
            <a:ext cx="4041648" cy="25260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93192" y="4059936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— STATE-WIDE OPERATIONAL PICTURE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393192" y="4224528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Karnataka auto-fitted to a full-height column. The rail carries the STL intelligence headline, eight active alerts, live metrics and the top districts. The headline states the finding; the figures sit beneath it so the claim is checkable.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4686300" y="1421892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10" name="Image 2" descr="C:\Users\tirum\OneDrive\Desktop\PRAHARI\screenshots\investig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444752"/>
            <a:ext cx="4041648" cy="252603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709160" y="4059936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— OFFENDER DOSSIER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4709160" y="4224528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name search over persons on record. The dossier assembles linked FIRs, arrest records, a first-to-last timeline, co-accused, and the offence pattern by crime type and district — all from existing record.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prototype  (2 / 6)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70332" y="1202436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5" name="Image 1" descr="C:\Users\tirum\OneDrive\Desktop\PRAHARI\screenshots\conn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225296"/>
            <a:ext cx="4041648" cy="252603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93192" y="3840480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— CO-OFFENDING NETWORK</a:t>
            </a:r>
            <a:endParaRPr lang="en-US" sz="750" dirty="0"/>
          </a:p>
        </p:txBody>
      </p:sp>
      <p:sp>
        <p:nvSpPr>
          <p:cNvPr id="7" name="Text 3"/>
          <p:cNvSpPr txBox="1"/>
          <p:nvPr/>
        </p:nvSpPr>
        <p:spPr>
          <a:xfrm>
            <a:off x="393192" y="40050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341,803 offender nodes and 509,633 co-accusation links, clustered by Louvain into 35,333 communities at modularity 0.978. The most-connected member carries a crown badge; any card opens that person's dossier.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4686300" y="1202436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9" name="Image 2" descr="C:\Users\tirum\OneDrive\Desktop\PRAHARI\screenshots\foreca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25296"/>
            <a:ext cx="4041648" cy="252603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09160" y="3840480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— GETIS-ORD GI* HOTSPOTS</a:t>
            </a:r>
            <a:endParaRPr lang="en-US" sz="750" dirty="0"/>
          </a:p>
        </p:txBody>
      </p:sp>
      <p:sp>
        <p:nvSpPr>
          <p:cNvPr id="11" name="Text 6"/>
          <p:cNvSpPr txBox="1"/>
          <p:nvPr/>
        </p:nvSpPr>
        <p:spPr>
          <a:xfrm>
            <a:off x="4709160" y="40050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Significance, not density: 722 hot cells out of 16,650 tested at p &lt; 0.05, with three confidence bands each side. Situation room and dated intelligence feed sit alongside the map.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prototype  (3 / 6)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70332" y="1202436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5" name="Image 1" descr="C:\Users\tirum\OneDrive\Desktop\PRAHARI\screenshots\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225296"/>
            <a:ext cx="4041648" cy="252603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93192" y="3840480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— ILP PATROL DEPLOYMENT</a:t>
            </a:r>
            <a:endParaRPr lang="en-US" sz="750" dirty="0"/>
          </a:p>
        </p:txBody>
      </p:sp>
      <p:sp>
        <p:nvSpPr>
          <p:cNvPr id="7" name="Text 3"/>
          <p:cNvSpPr txBox="1"/>
          <p:nvPr/>
        </p:nvSpPr>
        <p:spPr>
          <a:xfrm>
            <a:off x="393192" y="40050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units placed on the highest-risk reachable clusters at a 2 km beat radius: 11.7% risk coverage against a 9.9% volume-driven baseline. Controls are now one panel; the coverage curve and method note open on demand.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4686300" y="1202436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9" name="Image 2" descr="C:\Users\tirum\OneDrive\Desktop\PRAHARI\screenshots\re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25296"/>
            <a:ext cx="4041648" cy="252603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09160" y="3840480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— HELD-OUT BACKTEST</a:t>
            </a:r>
            <a:endParaRPr lang="en-US" sz="750" dirty="0"/>
          </a:p>
        </p:txBody>
      </p:sp>
      <p:sp>
        <p:nvSpPr>
          <p:cNvPr id="11" name="Text 6"/>
          <p:cNvSpPr txBox="1"/>
          <p:nvPr/>
        </p:nvSpPr>
        <p:spPr>
          <a:xfrm>
            <a:off x="4709160" y="40050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2016–2023 only, replayed against 2024 week by week: forecast drawn, real FIRs plotted, week scored. 43.3% mean hit rate over eleven weeks, with the worst week exposed deliberately.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prototype  (4 / 6)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70332" y="1202436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5" name="Image 1" descr="C:\Users\tirum\OneDrive\Desktop\PRAHARI\screenshots\tru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225296"/>
            <a:ext cx="4041648" cy="252603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93192" y="3840480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— TRANSPARENCY AND FAIRNESS</a:t>
            </a:r>
            <a:endParaRPr lang="en-US" sz="750" dirty="0"/>
          </a:p>
        </p:txBody>
      </p:sp>
      <p:sp>
        <p:nvSpPr>
          <p:cNvPr id="7" name="Text 3"/>
          <p:cNvSpPr txBox="1"/>
          <p:nvPr/>
        </p:nvSpPr>
        <p:spPr>
          <a:xfrm>
            <a:off x="393192" y="40050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Isotonic-calibrated reliability curve (0.3% calibration error), SHAP attributions in plain language, a reporting-bias-adjusted fairness audit at Gini 0.183, and a written limitations page.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4686300" y="1202436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9" name="Image 2" descr="C:\Users\tirum\OneDrive\Desktop\PRAHARI\screenshots\triage_que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25296"/>
            <a:ext cx="4041648" cy="252603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09160" y="3840480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— THE OFFICER TRIAGE QUEUE</a:t>
            </a:r>
            <a:endParaRPr lang="en-US" sz="750" dirty="0"/>
          </a:p>
        </p:txBody>
      </p:sp>
      <p:sp>
        <p:nvSpPr>
          <p:cNvPr id="11" name="Text 6"/>
          <p:cNvSpPr txBox="1"/>
          <p:nvPr/>
        </p:nvSpPr>
        <p:spPr>
          <a:xfrm>
            <a:off x="4709160" y="40050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submissions with live status counts. Likely duplicates and low-quality reports are flagged and sorted to the bottom — visible, never hidden. The header states plainly that none of this feeds the models.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prototype  (5 / 6)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70332" y="1202436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5" name="Image 1" descr="C:\Users\tirum\OneDrive\Desktop\PRAHARI\screenshots\report_ste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225296"/>
            <a:ext cx="4041648" cy="252603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93192" y="3840480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PORTAL — FILING A REPORT</a:t>
            </a:r>
            <a:endParaRPr lang="en-US" sz="750" dirty="0"/>
          </a:p>
        </p:txBody>
      </p:sp>
      <p:sp>
        <p:nvSpPr>
          <p:cNvPr id="7" name="Text 3"/>
          <p:cNvSpPr txBox="1"/>
          <p:nvPr/>
        </p:nvSpPr>
        <p:spPr>
          <a:xfrm>
            <a:off x="393192" y="40050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in the order a person thinks: what happened, where and when, then who is filing. Verification comes last on purpose — asking for an address before someone has said anything loses reports.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4686300" y="1202436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9" name="Image 2" descr="C:\Users\tirum\OneDrive\Desktop\PRAHARI\screenshots\report_emergenc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25296"/>
            <a:ext cx="4041648" cy="252603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09160" y="3840480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PORTAL — THE EMERGENCY STOP</a:t>
            </a:r>
            <a:endParaRPr lang="en-US" sz="750" dirty="0"/>
          </a:p>
        </p:txBody>
      </p:sp>
      <p:sp>
        <p:nvSpPr>
          <p:cNvPr id="11" name="Text 6"/>
          <p:cNvSpPr txBox="1"/>
          <p:nvPr/>
        </p:nvSpPr>
        <p:spPr>
          <a:xfrm>
            <a:off x="4709160" y="40050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"happening right now" ends the form and shows 112. A web form nobody is watching at 3 AM must never look like an alternative to calling. The same hard stop applies to legally protected offence categories.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prototype  (6 / 6)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70332" y="1202436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5" name="Image 1" descr="C:\Users\tirum\OneDrive\Desktop\PRAHARI\screenshots\triage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225296"/>
            <a:ext cx="4041648" cy="252603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93192" y="3840480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— A DECISION, WITH THE LIFECYCLE ENFORCED</a:t>
            </a:r>
            <a:endParaRPr lang="en-US" sz="750" dirty="0"/>
          </a:p>
        </p:txBody>
      </p:sp>
      <p:sp>
        <p:nvSpPr>
          <p:cNvPr id="7" name="Text 3"/>
          <p:cNvSpPr txBox="1"/>
          <p:nvPr/>
        </p:nvSpPr>
        <p:spPr>
          <a:xfrm>
            <a:off x="393192" y="40050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panel offers exactly the transitions legal from this state, drawn from one adjacency table that the server validator and a parity test both hold to. Verifying requires a real FIR number.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4686300" y="1202436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9" name="Image 2" descr="C:\Users\tirum\OneDrive\Desktop\PRAHARI\screenshots\report_stat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25296"/>
            <a:ext cx="4041648" cy="252603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09160" y="3840480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PORTAL — TRACKING A REPORT</a:t>
            </a:r>
            <a:endParaRPr lang="en-US" sz="750" dirty="0"/>
          </a:p>
        </p:txBody>
      </p:sp>
      <p:sp>
        <p:nvSpPr>
          <p:cNvPr id="11" name="Text 6"/>
          <p:cNvSpPr txBox="1"/>
          <p:nvPr/>
        </p:nvSpPr>
        <p:spPr>
          <a:xfrm>
            <a:off x="4709160" y="40050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number returns status, a redacted history, and the ability to answer a request for more information or withdraw within 24 hours. Officer identity and internal notes are never shown.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performance report / Benchmarking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below is measured on data held out of training. Nothing is estimated.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389888"/>
            <a:ext cx="4087368" cy="658368"/>
          </a:xfrm>
          <a:prstGeom prst="roundRect">
            <a:avLst>
              <a:gd name="adj" fmla="val 6944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21208" y="1389888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10.63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746504" y="14904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 @ top 5%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746504" y="16916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53.1% of all crime falls inside 5% of the map area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663440" y="1389888"/>
            <a:ext cx="4087368" cy="658368"/>
          </a:xfrm>
          <a:prstGeom prst="roundRect">
            <a:avLst>
              <a:gd name="adj" fmla="val 6944"/>
            </a:avLst>
          </a:prstGeom>
          <a:solidFill>
            <a:srgbClr val="FAFA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91456" y="1389888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1.27x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016752" y="14904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RRI @ top 5%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016752" y="16916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 41.94% status-quo baseline ranked on pre-2024 data only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93192" y="2139696"/>
            <a:ext cx="4087368" cy="658368"/>
          </a:xfrm>
          <a:prstGeom prst="roundRect">
            <a:avLst>
              <a:gd name="adj" fmla="val 6944"/>
            </a:avLst>
          </a:prstGeom>
          <a:solidFill>
            <a:srgbClr val="FAFA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21208" y="213969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11.67%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746504" y="22402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Patrol coverage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1746504" y="24414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ILP-optimised against a 9.87% volume-driven status quo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663440" y="2139696"/>
            <a:ext cx="4087368" cy="658368"/>
          </a:xfrm>
          <a:prstGeom prst="roundRect">
            <a:avLst>
              <a:gd name="adj" fmla="val 6944"/>
            </a:avLst>
          </a:prstGeom>
          <a:solidFill>
            <a:srgbClr val="FAFAF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91456" y="213969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+18.2%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016752" y="22402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uplift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016752" y="24414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unit count, same shift, zero additional cost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93192" y="2889504"/>
            <a:ext cx="4087368" cy="658368"/>
          </a:xfrm>
          <a:prstGeom prst="roundRect">
            <a:avLst>
              <a:gd name="adj" fmla="val 6944"/>
            </a:avLst>
          </a:prstGeom>
          <a:solidFill>
            <a:srgbClr val="FAFA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21208" y="2889504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11.72%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746504" y="2990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 verification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746504" y="31912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heuristic within 0.05 pts of the exact optimum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663440" y="2889504"/>
            <a:ext cx="4087368" cy="658368"/>
          </a:xfrm>
          <a:prstGeom prst="roundRect">
            <a:avLst>
              <a:gd name="adj" fmla="val 6944"/>
            </a:avLst>
          </a:prstGeom>
          <a:solidFill>
            <a:srgbClr val="FAFAF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791456" y="2889504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43.3%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016752" y="2990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hit rate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6016752" y="31912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across eleven held-out weeks of 2024 data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93192" y="3639312"/>
            <a:ext cx="4087368" cy="658368"/>
          </a:xfrm>
          <a:prstGeom prst="roundRect">
            <a:avLst>
              <a:gd name="adj" fmla="val 6944"/>
            </a:avLst>
          </a:prstGeom>
          <a:solidFill>
            <a:srgbClr val="FAFAF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21208" y="3639312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746504" y="37398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error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746504" y="39410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Isotonic calibration over 405,476 held-out predictions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4663440" y="3639312"/>
            <a:ext cx="4087368" cy="658368"/>
          </a:xfrm>
          <a:prstGeom prst="roundRect">
            <a:avLst>
              <a:gd name="adj" fmla="val 6944"/>
            </a:avLst>
          </a:prstGeom>
          <a:solidFill>
            <a:srgbClr val="FAFAFA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791456" y="3639312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0.183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016752" y="37398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Gini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016752" y="39410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disparity; 11 districts flagged for reporting-bias review</a:t>
            </a:r>
            <a:endParaRPr lang="en-US" sz="750" dirty="0"/>
          </a:p>
        </p:txBody>
      </p:sp>
      <p:sp>
        <p:nvSpPr>
          <p:cNvPr id="37" name="Text 34"/>
          <p:cNvSpPr txBox="1"/>
          <p:nvPr/>
        </p:nvSpPr>
        <p:spPr>
          <a:xfrm>
            <a:off x="393192" y="4480560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uplift is stated against the volume-driven status quo — patrols at the highest-volume stations — never against random placement. The random comparison flatters and does not survive a follow-up question.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impact — what +18.2% actually means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six patrol units. Same shift. Same fuel budget.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463040"/>
            <a:ext cx="3749040" cy="1572768"/>
          </a:xfrm>
          <a:prstGeom prst="roundRect">
            <a:avLst>
              <a:gd name="adj" fmla="val 2907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93192" y="1572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3192" y="18470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9.87%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393192" y="24871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predicted crime inside a patrolled radius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placed at the highest-volume stations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4197096" y="210312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01768" y="1463040"/>
            <a:ext cx="3749040" cy="1572768"/>
          </a:xfrm>
          <a:prstGeom prst="roundRect">
            <a:avLst>
              <a:gd name="adj" fmla="val 2907"/>
            </a:avLst>
          </a:prstGeom>
          <a:solidFill>
            <a:srgbClr val="ECFDF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01768" y="1572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PRAHARI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001768" y="18470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11.67%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5001768" y="24871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predicted crime inside a patrolled radius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placed by ILP risk optimisation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393192" y="314553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+18.2% coverage uplift   ·   ILP-verified at 11.72%   ·   greedy within 0.05 pts   ·   zero additional spend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19172" y="3360420"/>
            <a:ext cx="1892808" cy="1200150"/>
          </a:xfrm>
          <a:prstGeom prst="roundRect">
            <a:avLst>
              <a:gd name="adj" fmla="val 3048"/>
            </a:avLst>
          </a:prstGeom>
          <a:solidFill>
            <a:srgbClr val="D1D5DB"/>
          </a:solidFill>
          <a:ln/>
        </p:spPr>
      </p:sp>
      <p:pic>
        <p:nvPicPr>
          <p:cNvPr id="16" name="Image 1" descr="C:\Users\tirum\OneDrive\Desktop\PRAHARI\screenshots\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3383280"/>
            <a:ext cx="1847088" cy="115443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30852" y="3360420"/>
            <a:ext cx="1892808" cy="1200150"/>
          </a:xfrm>
          <a:prstGeom prst="roundRect">
            <a:avLst>
              <a:gd name="adj" fmla="val 3048"/>
            </a:avLst>
          </a:prstGeom>
          <a:solidFill>
            <a:srgbClr val="D1D5DB"/>
          </a:solidFill>
          <a:ln/>
        </p:spPr>
      </p:sp>
      <p:pic>
        <p:nvPicPr>
          <p:cNvPr id="18" name="Image 2" descr="C:\Users\tirum\OneDrive\Desktop\PRAHARI\screenshots\foreca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3383280"/>
            <a:ext cx="1847088" cy="11544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3192" y="4608576"/>
            <a:ext cx="8357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across 37 districts with nightly recomputation, that is a materially different deployment posture for no new spending.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lifecycle — one table, enforced everywhere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triage buttons, the server validator and a parity test all read the same adjacency table. They cannot drift.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481328"/>
            <a:ext cx="8357616" cy="329184"/>
          </a:xfrm>
          <a:prstGeom prst="roundRect">
            <a:avLst>
              <a:gd name="adj" fmla="val 13889"/>
            </a:avLst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393192" y="1481328"/>
            <a:ext cx="4572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76072" y="14813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2267712" y="1481328"/>
            <a:ext cx="6300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Filed by the public. Awaiting first look.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93192" y="1856232"/>
            <a:ext cx="8357616" cy="329184"/>
          </a:xfrm>
          <a:prstGeom prst="roundRect">
            <a:avLst>
              <a:gd name="adj" fmla="val 13889"/>
            </a:avLst>
          </a:prstGeom>
          <a:solidFill>
            <a:srgbClr val="FA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393192" y="1856232"/>
            <a:ext cx="4572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6072" y="18562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2267712" y="1856232"/>
            <a:ext cx="6300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officer has taken it on.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93192" y="2231136"/>
            <a:ext cx="8357616" cy="329184"/>
          </a:xfrm>
          <a:prstGeom prst="roundRect">
            <a:avLst>
              <a:gd name="adj" fmla="val 13889"/>
            </a:avLst>
          </a:prstGeom>
          <a:solidFill>
            <a:srgbClr val="FAFAFA"/>
          </a:solidFill>
          <a:ln/>
        </p:spPr>
      </p:sp>
      <p:sp>
        <p:nvSpPr>
          <p:cNvPr id="14" name="Shape 11"/>
          <p:cNvSpPr/>
          <p:nvPr/>
        </p:nvSpPr>
        <p:spPr>
          <a:xfrm>
            <a:off x="393192" y="2231136"/>
            <a:ext cx="45720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6072" y="22311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NEEDS_INFO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2267712" y="2231136"/>
            <a:ext cx="6300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back for detail. Auto-rejects after 7 days of silence.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93192" y="2606040"/>
            <a:ext cx="8357616" cy="329184"/>
          </a:xfrm>
          <a:prstGeom prst="roundRect">
            <a:avLst>
              <a:gd name="adj" fmla="val 13889"/>
            </a:avLst>
          </a:prstGeom>
          <a:solidFill>
            <a:srgbClr val="FAFAFA"/>
          </a:solidFill>
          <a:ln/>
        </p:spPr>
      </p:sp>
      <p:sp>
        <p:nvSpPr>
          <p:cNvPr id="18" name="Shape 15"/>
          <p:cNvSpPr/>
          <p:nvPr/>
        </p:nvSpPr>
        <p:spPr>
          <a:xfrm>
            <a:off x="393192" y="2606040"/>
            <a:ext cx="45720" cy="32918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76072" y="26060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2267712" y="2606040"/>
            <a:ext cx="6300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incident as an existing report. Supervisor-only to reopen.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93192" y="2980944"/>
            <a:ext cx="8357616" cy="329184"/>
          </a:xfrm>
          <a:prstGeom prst="roundRect">
            <a:avLst>
              <a:gd name="adj" fmla="val 13889"/>
            </a:avLst>
          </a:prstGeom>
          <a:solidFill>
            <a:srgbClr val="FAFAFA"/>
          </a:solidFill>
          <a:ln/>
        </p:spPr>
      </p:sp>
      <p:sp>
        <p:nvSpPr>
          <p:cNvPr id="22" name="Shape 19"/>
          <p:cNvSpPr/>
          <p:nvPr/>
        </p:nvSpPr>
        <p:spPr>
          <a:xfrm>
            <a:off x="393192" y="2980944"/>
            <a:ext cx="4572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76072" y="29809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2267712" y="2980944"/>
            <a:ext cx="6300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taken forward, with a stated reason code.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93192" y="3355848"/>
            <a:ext cx="8357616" cy="329184"/>
          </a:xfrm>
          <a:prstGeom prst="roundRect">
            <a:avLst>
              <a:gd name="adj" fmla="val 13889"/>
            </a:avLst>
          </a:prstGeom>
          <a:solidFill>
            <a:srgbClr val="FAFAFA"/>
          </a:solidFill>
          <a:ln/>
        </p:spPr>
      </p:sp>
      <p:sp>
        <p:nvSpPr>
          <p:cNvPr id="26" name="Shape 23"/>
          <p:cNvSpPr/>
          <p:nvPr/>
        </p:nvSpPr>
        <p:spPr>
          <a:xfrm>
            <a:off x="393192" y="3355848"/>
            <a:ext cx="45720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76072" y="33558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VERIFIED_FIR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2267712" y="3355848"/>
            <a:ext cx="6300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and registered with a real FIR number.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93192" y="3730752"/>
            <a:ext cx="8357616" cy="329184"/>
          </a:xfrm>
          <a:prstGeom prst="roundRect">
            <a:avLst>
              <a:gd name="adj" fmla="val 13889"/>
            </a:avLst>
          </a:prstGeom>
          <a:solidFill>
            <a:srgbClr val="FAFAFA"/>
          </a:solidFill>
          <a:ln/>
        </p:spPr>
      </p:sp>
      <p:sp>
        <p:nvSpPr>
          <p:cNvPr id="30" name="Shape 27"/>
          <p:cNvSpPr/>
          <p:nvPr/>
        </p:nvSpPr>
        <p:spPr>
          <a:xfrm>
            <a:off x="393192" y="3730752"/>
            <a:ext cx="45720" cy="32918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76072" y="37307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CLOSED_NO_ACTION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2267712" y="3730752"/>
            <a:ext cx="6300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but not a police matter.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93192" y="4105656"/>
            <a:ext cx="8357616" cy="329184"/>
          </a:xfrm>
          <a:prstGeom prst="roundRect">
            <a:avLst>
              <a:gd name="adj" fmla="val 13889"/>
            </a:avLst>
          </a:prstGeom>
          <a:solidFill>
            <a:srgbClr val="FAFAFA"/>
          </a:solidFill>
          <a:ln/>
        </p:spPr>
      </p:sp>
      <p:sp>
        <p:nvSpPr>
          <p:cNvPr id="34" name="Shape 31"/>
          <p:cNvSpPr/>
          <p:nvPr/>
        </p:nvSpPr>
        <p:spPr>
          <a:xfrm>
            <a:off x="393192" y="4105656"/>
            <a:ext cx="45720" cy="32918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76072" y="41056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WITHDRAWN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2267712" y="4105656"/>
            <a:ext cx="6300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Retracted by the reporter within 24 hours. Terminal.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93192" y="4517136"/>
            <a:ext cx="8357616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39496" y="457200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verified report is sealed into an export batch it cannot be walked back — the pipeline may already have consumed it. That single rule is what keeps the published statistics reproducible.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Abuse, duplicates and moderation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Proportionate to a prototype, and deliberately advisory: the machine proposes, a human disposes.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389888"/>
            <a:ext cx="4041648" cy="1700784"/>
          </a:xfrm>
          <a:prstGeom prst="roundRect">
            <a:avLst>
              <a:gd name="adj" fmla="val 2688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9496" y="1463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DETECTION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649224" y="1682496"/>
            <a:ext cx="36393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limited to the same 1 km cell or one of its eight neighbours — pure arithmetic on the lattice, no geo query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time within 48 hours, same crime category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similarity by Jaccard over grapheme trigrams, not word tokens: a whitespace tokeniser looks fine in English and silently fails in Kannada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auto-merges. It flags a likely duplicate for the officer to confirm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709160" y="1389888"/>
            <a:ext cx="4041648" cy="1700784"/>
          </a:xfrm>
          <a:prstGeom prst="roundRect">
            <a:avLst>
              <a:gd name="adj" fmla="val 2688"/>
            </a:avLst>
          </a:prstGeom>
          <a:solidFill>
            <a:srgbClr val="FAFA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55464" y="1463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SCORING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4965192" y="1682496"/>
            <a:ext cx="36393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signals: burst from a new account, very short text, long runs of one character, no letters in either script, poor prior history, location outside Karnataka, links, multiple phone numbers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flagged report sorts to the bottom of the queue and is labelled — it is never hidden or deleted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officer can always disagree with the score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93192" y="3200400"/>
            <a:ext cx="8357616" cy="73152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496" y="3273552"/>
            <a:ext cx="8065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39496" y="3474720"/>
            <a:ext cx="8065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contact: one code a minute, five an hour.   Per reporter: three reports an hour, five a day.   Per IP: twenty codes an hour, thirty submissions.   Per officer: three hundred transitions an hour, which is a work queue, not a limit.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93192" y="4041648"/>
            <a:ext cx="8357616" cy="786384"/>
          </a:xfrm>
          <a:prstGeom prst="roundRect">
            <a:avLst>
              <a:gd name="adj" fmla="val 5814"/>
            </a:avLst>
          </a:prstGeom>
          <a:solidFill>
            <a:srgbClr val="FEF2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9496" y="4114800"/>
            <a:ext cx="8065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NOT DO — STATED RATHER THAN HOPED NOBODY ASKS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39496" y="4315968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malware scanning on attachments, no image-content moderation, no CSAM detection. Attachments are images only, capped at 5 MB and three per report, visible to officers through short-lived links and never through a public URL. EXIF location is stripped before any officer view, because a photo's embedded GPS can contradict the pinned location and expose where the reporter actually stood.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links to your: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93192" y="1188720"/>
            <a:ext cx="8357616" cy="749808"/>
          </a:xfrm>
          <a:prstGeom prst="roundRect">
            <a:avLst>
              <a:gd name="adj" fmla="val 6098"/>
            </a:avLst>
          </a:prstGeom>
          <a:solidFill>
            <a:srgbClr val="FAFAFA"/>
          </a:solidFill>
          <a:ln/>
        </p:spPr>
      </p:sp>
      <p:sp>
        <p:nvSpPr>
          <p:cNvPr id="5" name="Shape 2"/>
          <p:cNvSpPr/>
          <p:nvPr/>
        </p:nvSpPr>
        <p:spPr>
          <a:xfrm>
            <a:off x="393192" y="1188720"/>
            <a:ext cx="45720" cy="74980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261872"/>
            <a:ext cx="7991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Public Repository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463040"/>
            <a:ext cx="7991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source: Python analytics pipeline, React console and public portal, and the BRD / PRD architecture documents.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6420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github.com/Nikethan10/KSP_datathon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93192" y="2048256"/>
            <a:ext cx="8357616" cy="749808"/>
          </a:xfrm>
          <a:prstGeom prst="roundRect">
            <a:avLst>
              <a:gd name="adj" fmla="val 6098"/>
            </a:avLst>
          </a:prstGeom>
          <a:solidFill>
            <a:srgbClr val="FA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393192" y="2048256"/>
            <a:ext cx="45720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2121408"/>
            <a:ext cx="7991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Link (3 minutes)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322576"/>
            <a:ext cx="7991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of the eight console tabs and the citizen reporting portal.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523744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unlisted link — to be added ]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93192" y="2907792"/>
            <a:ext cx="8357616" cy="749808"/>
          </a:xfrm>
          <a:prstGeom prst="roundRect">
            <a:avLst>
              <a:gd name="adj" fmla="val 6098"/>
            </a:avLst>
          </a:prstGeom>
          <a:solidFill>
            <a:srgbClr val="FAFAFA"/>
          </a:solidFill>
          <a:ln/>
        </p:spPr>
      </p:sp>
      <p:sp>
        <p:nvSpPr>
          <p:cNvPr id="15" name="Shape 12"/>
          <p:cNvSpPr/>
          <p:nvPr/>
        </p:nvSpPr>
        <p:spPr>
          <a:xfrm>
            <a:off x="393192" y="2907792"/>
            <a:ext cx="45720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2980944"/>
            <a:ext cx="7991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Link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3182112"/>
            <a:ext cx="7991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prototype on Zoho Catalyst Hosting. No login required — the console opens straight into COMMAND.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383280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https://prahari-60076064719.development.catalystserverless.in/app/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93192" y="3767328"/>
            <a:ext cx="8357616" cy="749808"/>
          </a:xfrm>
          <a:prstGeom prst="roundRect">
            <a:avLst>
              <a:gd name="adj" fmla="val 6098"/>
            </a:avLst>
          </a:prstGeom>
          <a:solidFill>
            <a:srgbClr val="FAFAFA"/>
          </a:solidFill>
          <a:ln/>
        </p:spPr>
      </p:sp>
      <p:sp>
        <p:nvSpPr>
          <p:cNvPr id="20" name="Shape 17"/>
          <p:cNvSpPr/>
          <p:nvPr/>
        </p:nvSpPr>
        <p:spPr>
          <a:xfrm>
            <a:off x="393192" y="3767328"/>
            <a:ext cx="45720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4360" y="3840480"/>
            <a:ext cx="7991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Stack Page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4041648"/>
            <a:ext cx="7991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Service-by-service table that verifies the Catalyst integration claims made on this deck.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4242816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https://prahari-60076064719.development.catalystserverless.in/app/#/stack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details — what changed since Round 1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console went from four tabs to eight, gained a public front door, and every number a judge can see now has a stated statistical basis.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93192" y="14264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tab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2176272" y="1412748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New. State-wide picture with a live intelligence feed, an STL-driven headline and clickable district cards.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393192" y="1783080"/>
            <a:ext cx="8357616" cy="548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93192" y="18379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tab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2176272" y="1824228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New. Offender dossier search with fuzzy matching, record timeline, co-accused links and offence-pattern breakdown.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93192" y="2194560"/>
            <a:ext cx="8357616" cy="548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93192" y="22494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tab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2176272" y="2235708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New. Co-offending network over 342k persons with priority ranking and click-through to dossiers.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93192" y="2606040"/>
            <a:ext cx="8357616" cy="548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3192" y="266090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tab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2176272" y="2647188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New. Week-by-week backtesting against held-out 2024 data, with the worst week shown deliberately.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93192" y="3017520"/>
            <a:ext cx="8357616" cy="548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93192" y="30723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tab + portal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176272" y="3058668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New. A public reporting portal and its officer triage queue, with the analytics boundary enforced structurally.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393192" y="3429000"/>
            <a:ext cx="8357616" cy="548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93192" y="34838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Kannada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2176272" y="3470148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Completed. All eight tabs and the public portal translate — including generated narratives, not just static labels.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3192" y="3840480"/>
            <a:ext cx="8357616" cy="548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93192" y="38953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uncertainty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2176272" y="3881628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Invented confidence percentages removed. Departures now carry a real 80% prediction interval from STL residual dispersion.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93192" y="4251960"/>
            <a:ext cx="8357616" cy="548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93192" y="43068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pass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2176272" y="4293108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no longer renders the Impact and Stack pages inline; method notes moved behind disclosure across the console.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development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93192" y="1133856"/>
            <a:ext cx="8357616" cy="530352"/>
          </a:xfrm>
          <a:prstGeom prst="roundRect">
            <a:avLst>
              <a:gd name="adj" fmla="val 8621"/>
            </a:avLst>
          </a:prstGeom>
          <a:solidFill>
            <a:srgbClr val="FAFAFA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20700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2070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INT-01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1271016" y="1188720"/>
            <a:ext cx="7306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the Catalyst report backend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271016" y="1380744"/>
            <a:ext cx="7306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the Advanced I/O function, Data Store tables and Stratus bucket, then swap the frontend adapter. The interface, schema and endpoint contracts are already written; this is configuration and deployment, not design.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93192" y="1737360"/>
            <a:ext cx="8357616" cy="530352"/>
          </a:xfrm>
          <a:prstGeom prst="roundRect">
            <a:avLst>
              <a:gd name="adj" fmla="val 8621"/>
            </a:avLst>
          </a:prstGeom>
          <a:solidFill>
            <a:srgbClr val="FA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" y="1810512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2920" y="18105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FR-19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1271016" y="1792224"/>
            <a:ext cx="7306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Prahari — natural-language querying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271016" y="1984248"/>
            <a:ext cx="7306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Officers query the analytics in plain Kannada or English. An LLM layer reads cached artefacts only — no raw case data is exposed to the model.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93192" y="2340864"/>
            <a:ext cx="8357616" cy="530352"/>
          </a:xfrm>
          <a:prstGeom prst="roundRect">
            <a:avLst>
              <a:gd name="adj" fmla="val 8621"/>
            </a:avLst>
          </a:prstGeom>
          <a:solidFill>
            <a:srgbClr val="FAFAFA"/>
          </a:solidFill>
          <a:ln/>
        </p:spPr>
      </p:sp>
      <p:sp>
        <p:nvSpPr>
          <p:cNvPr id="15" name="Shape 12"/>
          <p:cNvSpPr/>
          <p:nvPr/>
        </p:nvSpPr>
        <p:spPr>
          <a:xfrm>
            <a:off x="502920" y="2414016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2920" y="24140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ING-01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1271016" y="2395728"/>
            <a:ext cx="7306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CCTNS ingestion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271016" y="2587752"/>
            <a:ext cx="7306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static FIR export with a live pull from the CCTNS API, triggering incremental hotspot and risk recomputes as cases are registered.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393192" y="2944368"/>
            <a:ext cx="8357616" cy="530352"/>
          </a:xfrm>
          <a:prstGeom prst="roundRect">
            <a:avLst>
              <a:gd name="adj" fmla="val 8621"/>
            </a:avLst>
          </a:prstGeom>
          <a:solidFill>
            <a:srgbClr val="FAFAFA"/>
          </a:solidFill>
          <a:ln/>
        </p:spPr>
      </p:sp>
      <p:sp>
        <p:nvSpPr>
          <p:cNvPr id="20" name="Shape 17"/>
          <p:cNvSpPr/>
          <p:nvPr/>
        </p:nvSpPr>
        <p:spPr>
          <a:xfrm>
            <a:off x="502920" y="3017520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5966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2920" y="30175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RET-01</a:t>
            </a:r>
            <a:endParaRPr lang="en-US" sz="650" dirty="0"/>
          </a:p>
        </p:txBody>
      </p:sp>
      <p:sp>
        <p:nvSpPr>
          <p:cNvPr id="22" name="Text 19"/>
          <p:cNvSpPr txBox="1"/>
          <p:nvPr/>
        </p:nvSpPr>
        <p:spPr>
          <a:xfrm>
            <a:off x="1271016" y="2999232"/>
            <a:ext cx="7306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feedback retraining loop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271016" y="3191256"/>
            <a:ext cx="7306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Patrol briefing feedback — already logged from the thumbs control — feeds model retraining, closing the human-in-the-loop cycle specified in the BRD.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93192" y="3547872"/>
            <a:ext cx="8357616" cy="530352"/>
          </a:xfrm>
          <a:prstGeom prst="roundRect">
            <a:avLst>
              <a:gd name="adj" fmla="val 8621"/>
            </a:avLst>
          </a:prstGeom>
          <a:solidFill>
            <a:srgbClr val="FAFAFA"/>
          </a:solidFill>
          <a:ln/>
        </p:spPr>
      </p:sp>
      <p:sp>
        <p:nvSpPr>
          <p:cNvPr id="25" name="Shape 22"/>
          <p:cNvSpPr/>
          <p:nvPr/>
        </p:nvSpPr>
        <p:spPr>
          <a:xfrm>
            <a:off x="502920" y="362102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B4530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02920" y="3621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OPT-01</a:t>
            </a:r>
            <a:endParaRPr lang="en-US" sz="650" dirty="0"/>
          </a:p>
        </p:txBody>
      </p:sp>
      <p:sp>
        <p:nvSpPr>
          <p:cNvPr id="27" name="Text 24"/>
          <p:cNvSpPr txBox="1"/>
          <p:nvPr/>
        </p:nvSpPr>
        <p:spPr>
          <a:xfrm>
            <a:off x="1271016" y="3602736"/>
            <a:ext cx="7306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Multi-shift scheduling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271016" y="3794760"/>
            <a:ext cx="7306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ILP to multiple shifts and heterogeneous unit types (motorcycle, vehicle, foot patrol) with different coverage radii.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93192" y="4151376"/>
            <a:ext cx="8357616" cy="530352"/>
          </a:xfrm>
          <a:prstGeom prst="roundRect">
            <a:avLst>
              <a:gd name="adj" fmla="val 8621"/>
            </a:avLst>
          </a:prstGeom>
          <a:solidFill>
            <a:srgbClr val="FAFAFA"/>
          </a:solidFill>
          <a:ln/>
        </p:spPr>
      </p:sp>
      <p:sp>
        <p:nvSpPr>
          <p:cNvPr id="30" name="Shape 27"/>
          <p:cNvSpPr/>
          <p:nvPr/>
        </p:nvSpPr>
        <p:spPr>
          <a:xfrm>
            <a:off x="502920" y="422452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DC262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02920" y="42245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SEC-01</a:t>
            </a:r>
            <a:endParaRPr lang="en-US" sz="650" dirty="0"/>
          </a:p>
        </p:txBody>
      </p:sp>
      <p:sp>
        <p:nvSpPr>
          <p:cNvPr id="32" name="Text 29"/>
          <p:cNvSpPr txBox="1"/>
          <p:nvPr/>
        </p:nvSpPr>
        <p:spPr>
          <a:xfrm>
            <a:off x="1271016" y="4206240"/>
            <a:ext cx="7306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and audit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271016" y="4398264"/>
            <a:ext cx="7306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for the dossier surfaces, an audit entry on every identity reveal, and a retention policy for rejected and withdrawn reports.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and known limitations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9728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by design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3192" y="1353312"/>
            <a:ext cx="4041648" cy="585216"/>
          </a:xfrm>
          <a:prstGeom prst="roundRect">
            <a:avLst>
              <a:gd name="adj" fmla="val 7813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21208" y="1417320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521208" y="1591056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attributions on every prediction and a calibration diagram showing whether a 70% score means 70%.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93192" y="2011680"/>
            <a:ext cx="4041648" cy="585216"/>
          </a:xfrm>
          <a:prstGeom prst="roundRect">
            <a:avLst>
              <a:gd name="adj" fmla="val 7813"/>
            </a:avLst>
          </a:prstGeom>
          <a:solidFill>
            <a:srgbClr val="FAFA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21208" y="2075688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BIAS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21208" y="2249424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FIRs can mean more crime or more policing. The audit corrects for known differences before flagging a district.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93192" y="2670048"/>
            <a:ext cx="4041648" cy="585216"/>
          </a:xfrm>
          <a:prstGeom prst="roundRect">
            <a:avLst>
              <a:gd name="adj" fmla="val 7813"/>
            </a:avLst>
          </a:prstGeom>
          <a:solidFill>
            <a:srgbClr val="FAFA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21208" y="2734056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521208" y="2907792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Identifiers hashed at ingest. No personal data leaves the report store for the analytics pipeline.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93192" y="3328416"/>
            <a:ext cx="4041648" cy="585216"/>
          </a:xfrm>
          <a:prstGeom prst="roundRect">
            <a:avLst>
              <a:gd name="adj" fmla="val 7813"/>
            </a:avLst>
          </a:prstGeom>
          <a:solidFill>
            <a:srgbClr val="FAFA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21208" y="3392424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521208" y="356616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deployment and every triage decision is a proposal an officer can accept, edit or reject. The algorithm advises.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109728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not claim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09160" y="1353312"/>
            <a:ext cx="4041648" cy="585216"/>
          </a:xfrm>
          <a:prstGeom prst="roundRect">
            <a:avLst>
              <a:gd name="adj" fmla="val 7813"/>
            </a:avLst>
          </a:prstGeom>
          <a:solidFill>
            <a:srgbClr val="FAFA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837176" y="1417320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4837176" y="1591056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coordinates are station-level, not exact — the most granular level this data honestly supports.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709160" y="2011680"/>
            <a:ext cx="4041648" cy="585216"/>
          </a:xfrm>
          <a:prstGeom prst="roundRect">
            <a:avLst>
              <a:gd name="adj" fmla="val 7813"/>
            </a:avLst>
          </a:prstGeom>
          <a:solidFill>
            <a:srgbClr val="FAFA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37176" y="2075688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4837176" y="2249424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PersonID is a within-case ordinal, not a cross-case identity. All offender linkage uses OffenderID.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709160" y="2670048"/>
            <a:ext cx="4041648" cy="585216"/>
          </a:xfrm>
          <a:prstGeom prst="roundRect">
            <a:avLst>
              <a:gd name="adj" fmla="val 7813"/>
            </a:avLst>
          </a:prstGeom>
          <a:solidFill>
            <a:srgbClr val="FAFAF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837176" y="2734056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TIMESTAMPS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4837176" y="2907792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registration date carries no time component, so sub-daily temporal patterns cannot be modelled.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709160" y="3328416"/>
            <a:ext cx="4041648" cy="585216"/>
          </a:xfrm>
          <a:prstGeom prst="roundRect">
            <a:avLst>
              <a:gd name="adj" fmla="val 7813"/>
            </a:avLst>
          </a:prstGeom>
          <a:solidFill>
            <a:srgbClr val="FAFAF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837176" y="3392424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4837176" y="356616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are measured on a synthetic FIR corpus with planted patterns. The same harness runs unchanged on live CCTNS data; real-world scores will differ.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93192" y="4041648"/>
            <a:ext cx="8357616" cy="786384"/>
          </a:xfrm>
          <a:prstGeom prst="roundRect">
            <a:avLst>
              <a:gd name="adj" fmla="val 5814"/>
            </a:avLst>
          </a:prstGeom>
          <a:solidFill>
            <a:srgbClr val="FEF2F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21208" y="4114800"/>
            <a:ext cx="8101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WE DO NOT CROSS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521208" y="4315968"/>
            <a:ext cx="8101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PRAHARI forecasts risk for areas and time windows, and analyses networks of people already on record. It does not predict crime for named individuals. There is no pre-crime score for a person anywhere in this system. Sexual offences, crimes against children and kidnapping cannot be filed through the public portal at all — those carry statutory identity protections and belong in a station, not a queue.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contribution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93192" y="1152144"/>
            <a:ext cx="8357616" cy="621792"/>
          </a:xfrm>
          <a:prstGeom prst="roundRect">
            <a:avLst>
              <a:gd name="adj" fmla="val 7353"/>
            </a:avLst>
          </a:prstGeom>
          <a:solidFill>
            <a:srgbClr val="FAFAF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21208" y="1234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Katir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21208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 &amp; SYSTEM DESIGN</a:t>
            </a:r>
            <a:endParaRPr lang="en-US" sz="600" dirty="0"/>
          </a:p>
        </p:txBody>
      </p:sp>
      <p:sp>
        <p:nvSpPr>
          <p:cNvPr id="7" name="Text 4"/>
          <p:cNvSpPr txBox="1"/>
          <p:nvPr/>
        </p:nvSpPr>
        <p:spPr>
          <a:xfrm>
            <a:off x="2130552" y="1152144"/>
            <a:ext cx="6483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 and PRD architecture documents. The ACT patrol optimiser and the TRUST layer (SHAP plus fairness audit). Zoho Catalyst deployment and the stack verification page.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93192" y="1847088"/>
            <a:ext cx="8357616" cy="621792"/>
          </a:xfrm>
          <a:prstGeom prst="roundRect">
            <a:avLst>
              <a:gd name="adj" fmla="val 7353"/>
            </a:avLst>
          </a:prstGeom>
          <a:solidFill>
            <a:srgbClr val="FAFA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21208" y="1929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Nikethan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21208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DEVELOPMENT LEAD</a:t>
            </a:r>
            <a:endParaRPr lang="en-US" sz="600" dirty="0"/>
          </a:p>
        </p:txBody>
      </p:sp>
      <p:sp>
        <p:nvSpPr>
          <p:cNvPr id="11" name="Text 8"/>
          <p:cNvSpPr txBox="1"/>
          <p:nvPr/>
        </p:nvSpPr>
        <p:spPr>
          <a:xfrm>
            <a:off x="2130552" y="1847088"/>
            <a:ext cx="6483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architecture in React 19, TypeScript and Vite 8. All eight tab interfaces, the public reporting portal, MapLibre GL and deck.gl integration, and the bilingual i18n system.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93192" y="2542032"/>
            <a:ext cx="8357616" cy="621792"/>
          </a:xfrm>
          <a:prstGeom prst="roundRect">
            <a:avLst>
              <a:gd name="adj" fmla="val 7353"/>
            </a:avLst>
          </a:prstGeom>
          <a:solidFill>
            <a:srgbClr val="FAFA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21208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Nair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PIPELINE</a:t>
            </a:r>
            <a:endParaRPr lang="en-US" sz="600" dirty="0"/>
          </a:p>
        </p:txBody>
      </p:sp>
      <p:sp>
        <p:nvSpPr>
          <p:cNvPr id="15" name="Text 12"/>
          <p:cNvSpPr txBox="1"/>
          <p:nvPr/>
        </p:nvSpPr>
        <p:spPr>
          <a:xfrm>
            <a:off x="2130552" y="2542032"/>
            <a:ext cx="6483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risk model and feature engineering (near-repeat windows, temporal lags). STL anomaly detection, model evaluation and the benchmark harness.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93192" y="3236976"/>
            <a:ext cx="8357616" cy="621792"/>
          </a:xfrm>
          <a:prstGeom prst="roundRect">
            <a:avLst>
              <a:gd name="adj" fmla="val 7353"/>
            </a:avLst>
          </a:prstGeom>
          <a:solidFill>
            <a:srgbClr val="FAFA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1208" y="33192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Dhikshitha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21208" y="3547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ANALYSIS</a:t>
            </a:r>
            <a:endParaRPr lang="en-US" sz="600" dirty="0"/>
          </a:p>
        </p:txBody>
      </p:sp>
      <p:sp>
        <p:nvSpPr>
          <p:cNvPr id="19" name="Text 16"/>
          <p:cNvSpPr txBox="1"/>
          <p:nvPr/>
        </p:nvSpPr>
        <p:spPr>
          <a:xfrm>
            <a:off x="2130552" y="3236976"/>
            <a:ext cx="6483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Co-offending network construction, Louvain community detection, gang-disruption simulation and networkx integration. Socio-economic overlay.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93192" y="3931920"/>
            <a:ext cx="8357616" cy="621792"/>
          </a:xfrm>
          <a:prstGeom prst="roundRect">
            <a:avLst>
              <a:gd name="adj" fmla="val 7353"/>
            </a:avLst>
          </a:prstGeom>
          <a:solidFill>
            <a:srgbClr val="FAFAF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21208" y="40142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Nihan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" y="42428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</a:t>
            </a:r>
            <a:endParaRPr lang="en-US" sz="600" dirty="0"/>
          </a:p>
        </p:txBody>
      </p:sp>
      <p:sp>
        <p:nvSpPr>
          <p:cNvPr id="23" name="Text 20"/>
          <p:cNvSpPr txBox="1"/>
          <p:nvPr/>
        </p:nvSpPr>
        <p:spPr>
          <a:xfrm>
            <a:off x="2130552" y="3931920"/>
            <a:ext cx="6483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CCTNS schema normalisation across eight tables, libpysal and esda Gi* spatial analysis, GeoJSON optimisation pipeline and district boundary processing.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393192" y="466344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ran largely on a shared machine, so git history shows a single committer for much of the codebase. Every commit lists the whole team as co-authors, and the breakdown above reflects actual ownership of each layer.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guide — try it in 90 seconds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deployed link. No login, no setup, no seed data required.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417320"/>
            <a:ext cx="219456" cy="219456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93192" y="1417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" dirty="0"/>
          </a:p>
        </p:txBody>
      </p:sp>
      <p:sp>
        <p:nvSpPr>
          <p:cNvPr id="7" name="Text 4"/>
          <p:cNvSpPr txBox="1"/>
          <p:nvPr/>
        </p:nvSpPr>
        <p:spPr>
          <a:xfrm>
            <a:off x="722376" y="1389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911096" y="1389888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intelligence headline and the eight active alerts, then click any district for its detail card.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93192" y="1746504"/>
            <a:ext cx="219456" cy="219456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93192" y="17465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" dirty="0"/>
          </a:p>
        </p:txBody>
      </p:sp>
      <p:sp>
        <p:nvSpPr>
          <p:cNvPr id="11" name="Text 8"/>
          <p:cNvSpPr txBox="1"/>
          <p:nvPr/>
        </p:nvSpPr>
        <p:spPr>
          <a:xfrm>
            <a:off x="722376" y="1719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911096" y="1719072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 name such as "Gautam" and open any result for a full dossier assembled from record.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93192" y="2075688"/>
            <a:ext cx="219456" cy="219456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3192" y="2075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" y="20482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1911096" y="2048256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the co-offending network; click any card to jump to that person's dossier.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93192" y="2404872"/>
            <a:ext cx="219456" cy="219456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93192" y="2404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911096" y="2377440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the Gi* hotspots, then switch to the Emerging and Week-ahead Risk lenses.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93192" y="2734056"/>
            <a:ext cx="219456" cy="219456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93192" y="27340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" y="27066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911096" y="2706624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district and unit count, open "How this is calculated", then hit Print.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93192" y="3063240"/>
            <a:ext cx="219456" cy="219456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93192" y="3063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" dirty="0"/>
          </a:p>
        </p:txBody>
      </p:sp>
      <p:sp>
        <p:nvSpPr>
          <p:cNvPr id="27" name="Text 24"/>
          <p:cNvSpPr txBox="1"/>
          <p:nvPr/>
        </p:nvSpPr>
        <p:spPr>
          <a:xfrm>
            <a:off x="722376" y="30358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911096" y="3035808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week W01, then use Best Week and Worst Week to see both ends of the range.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93192" y="3392424"/>
            <a:ext cx="219456" cy="219456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93192" y="33924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00" dirty="0"/>
          </a:p>
        </p:txBody>
      </p:sp>
      <p:sp>
        <p:nvSpPr>
          <p:cNvPr id="31" name="Text 28"/>
          <p:cNvSpPr txBox="1"/>
          <p:nvPr/>
        </p:nvSpPr>
        <p:spPr>
          <a:xfrm>
            <a:off x="722376" y="33649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911096" y="3364992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the technical evidence: calibration curve, SHAP attributions, fairness audit.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93192" y="3721608"/>
            <a:ext cx="219456" cy="219456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93192" y="3721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00" dirty="0"/>
          </a:p>
        </p:txBody>
      </p:sp>
      <p:sp>
        <p:nvSpPr>
          <p:cNvPr id="35" name="Text 32"/>
          <p:cNvSpPr txBox="1"/>
          <p:nvPr/>
        </p:nvSpPr>
        <p:spPr>
          <a:xfrm>
            <a:off x="722376" y="36941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1911096" y="3694176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public site, file a report. Try "happening right now" to see the emergency stop.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93192" y="4050792"/>
            <a:ext cx="219456" cy="219456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393192" y="4050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00" dirty="0"/>
          </a:p>
        </p:txBody>
      </p:sp>
      <p:sp>
        <p:nvSpPr>
          <p:cNvPr id="39" name="Text 36"/>
          <p:cNvSpPr txBox="1"/>
          <p:nvPr/>
        </p:nvSpPr>
        <p:spPr>
          <a:xfrm>
            <a:off x="722376" y="4023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1911096" y="4023360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in the console, triage what you filed. Verify it, then seal the export batch.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393192" y="4379976"/>
            <a:ext cx="219456" cy="219456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93192" y="4379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" dirty="0"/>
          </a:p>
        </p:txBody>
      </p:sp>
      <p:sp>
        <p:nvSpPr>
          <p:cNvPr id="43" name="Text 40"/>
          <p:cNvSpPr txBox="1"/>
          <p:nvPr/>
        </p:nvSpPr>
        <p:spPr>
          <a:xfrm>
            <a:off x="722376" y="43525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ಕ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1911096" y="4352544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the language button for a full Kannada interface, on every surface above.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393192" y="4736592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https://prahari-60076064719.development.catalystserverless.in/app/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separation, on screen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claim in this system is that citizen reports never touch the analytics. Here is what that looks like.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70332" y="1394460"/>
            <a:ext cx="4526280" cy="2846070"/>
          </a:xfrm>
          <a:prstGeom prst="roundRect">
            <a:avLst>
              <a:gd name="adj" fmla="val 1285"/>
            </a:avLst>
          </a:prstGeom>
          <a:solidFill>
            <a:srgbClr val="D1D5DB"/>
          </a:solidFill>
          <a:ln/>
        </p:spPr>
      </p:sp>
      <p:pic>
        <p:nvPicPr>
          <p:cNvPr id="6" name="Image 1" descr="C:\Users\tirum\OneDrive\Desktop\PRAHARI\screenshots\command_citizen_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417320"/>
            <a:ext cx="4480560" cy="28003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102352" y="1417320"/>
            <a:ext cx="3648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own layer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5102352" y="1600200"/>
            <a:ext cx="3648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deck.gl layer in a hue neither the significance nor the lifecycle palette uses. It reads as an annotation, not a measurement.</a:t>
            </a:r>
            <a:endParaRPr lang="en-US" sz="750" dirty="0"/>
          </a:p>
        </p:txBody>
      </p:sp>
      <p:sp>
        <p:nvSpPr>
          <p:cNvPr id="9" name="Text 5"/>
          <p:cNvSpPr txBox="1"/>
          <p:nvPr/>
        </p:nvSpPr>
        <p:spPr>
          <a:xfrm>
            <a:off x="5102352" y="2167128"/>
            <a:ext cx="3648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radius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5102352" y="2350008"/>
            <a:ext cx="3648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Hotspots scale by log of their count, because that count is a statistic. Scaling reports the same way would lend them a weight they do not have.</a:t>
            </a:r>
            <a:endParaRPr lang="en-US" sz="750" dirty="0"/>
          </a:p>
        </p:txBody>
      </p:sp>
      <p:sp>
        <p:nvSpPr>
          <p:cNvPr id="11" name="Text 7"/>
          <p:cNvSpPr txBox="1"/>
          <p:nvPr/>
        </p:nvSpPr>
        <p:spPr>
          <a:xfrm>
            <a:off x="5102352" y="2916936"/>
            <a:ext cx="3648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statistic in the tooltip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5102352" y="3099816"/>
            <a:ext cx="3648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hotspot tooltip ends with Gi* z and p. This one begins with "Unverified citizen report" and carries no significance value at all.</a:t>
            </a:r>
            <a:endParaRPr lang="en-US" sz="750" dirty="0"/>
          </a:p>
        </p:txBody>
      </p:sp>
      <p:sp>
        <p:nvSpPr>
          <p:cNvPr id="13" name="Text 9"/>
          <p:cNvSpPr txBox="1"/>
          <p:nvPr/>
        </p:nvSpPr>
        <p:spPr>
          <a:xfrm>
            <a:off x="5102352" y="3666744"/>
            <a:ext cx="3648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by default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5102352" y="3849624"/>
            <a:ext cx="3648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officer opts in, and opting in changes only what is drawn.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93192" y="4443984"/>
            <a:ext cx="8357616" cy="4572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39496" y="4443984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we hold ourselves to: toggling this layer must not move a single number on the screen. Hot-cell count, alert count, district totals — all unchanged. Verified.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citizen portal, step by step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in the order a person actually thinks: what happened, where and when, then who is filing it.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70332" y="1394460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6" name="Image 1" descr="C:\Users\tirum\OneDrive\Desktop\PRAHARI\screenshots\report_ste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417320"/>
            <a:ext cx="4041648" cy="25260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93192" y="4005072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WHAT HAPPENED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393192" y="416966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first, because that is the question that can end the flow. Then the category, drawn from the same twenty the pipeline uses, so a verified report becomes an FIR with no mapping table in between.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4686300" y="1394460"/>
            <a:ext cx="4087368" cy="2571750"/>
          </a:xfrm>
          <a:prstGeom prst="roundRect">
            <a:avLst>
              <a:gd name="adj" fmla="val 1422"/>
            </a:avLst>
          </a:prstGeom>
          <a:solidFill>
            <a:srgbClr val="D1D5DB"/>
          </a:solidFill>
          <a:ln/>
        </p:spPr>
      </p:sp>
      <p:pic>
        <p:nvPicPr>
          <p:cNvPr id="10" name="Image 2" descr="C:\Users\tirum\OneDrive\Desktop\PRAHARI\screenshots\report_fill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417320"/>
            <a:ext cx="4041648" cy="252603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709160" y="4005072"/>
            <a:ext cx="4041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CHOSEN — THE FLOW CONTINUES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4709160" y="416966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anything other than "happening right now" lets the form proceed. Verification is asked for last: requiring an email address before someone has said anything is how you lose the report you most wanted.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API, as built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Advanced I/O function on Catalyst. Basic I/O cannot read headers, which makes bearer tokens impossible — so Advanced I/O, versioned under /v1 from the first commit.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417320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393192" y="1417320"/>
            <a:ext cx="45720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76072" y="14173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947672" y="1417320"/>
            <a:ext cx="6620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otp/request · otp/verify · POST reports · reports/mine · reports/{ref} · reply · withdraw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93192" y="2093976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393192" y="2093976"/>
            <a:ext cx="45720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6072" y="209397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47672" y="2093976"/>
            <a:ext cx="6620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(paginated) · reports/{ref} · transition · stats — every read of a citizen description writes an audit row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3192" y="2770632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14" name="Shape 11"/>
          <p:cNvSpPr/>
          <p:nvPr/>
        </p:nvSpPr>
        <p:spPr>
          <a:xfrm>
            <a:off x="393192" y="2770632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6072" y="27706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947672" y="2770632"/>
            <a:ext cx="6620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export/verified (read-only, mutates nothing) · export/seal (stamps exported_at and freezes the row)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3192" y="3447288"/>
            <a:ext cx="8357616" cy="566928"/>
          </a:xfrm>
          <a:prstGeom prst="roundRect">
            <a:avLst>
              <a:gd name="adj" fmla="val 8065"/>
            </a:avLst>
          </a:prstGeom>
          <a:solidFill>
            <a:srgbClr val="FAFAFA"/>
          </a:solidFill>
          <a:ln/>
        </p:spPr>
      </p:sp>
      <p:sp>
        <p:nvSpPr>
          <p:cNvPr id="18" name="Shape 15"/>
          <p:cNvSpPr/>
          <p:nvPr/>
        </p:nvSpPr>
        <p:spPr>
          <a:xfrm>
            <a:off x="393192" y="3447288"/>
            <a:ext cx="45720" cy="5669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76072" y="34472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947672" y="3447288"/>
            <a:ext cx="6620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public/reports/layer — aggregated to the 1 km cell, no free text, no reporter, officer-only by default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93192" y="4133088"/>
            <a:ext cx="2007108" cy="566928"/>
          </a:xfrm>
          <a:prstGeom prst="roundRect">
            <a:avLst>
              <a:gd name="adj" fmla="val 8065"/>
            </a:avLst>
          </a:prstGeom>
          <a:solidFill>
            <a:srgbClr val="F3F4F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93192" y="4169664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93192" y="4453128"/>
            <a:ext cx="20071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ZCQL ROW CAP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2510028" y="4133088"/>
            <a:ext cx="2007108" cy="566928"/>
          </a:xfrm>
          <a:prstGeom prst="roundRect">
            <a:avLst>
              <a:gd name="adj" fmla="val 8065"/>
            </a:avLst>
          </a:prstGeom>
          <a:solidFill>
            <a:srgbClr val="F3F4F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510028" y="4169664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2510028" y="4453128"/>
            <a:ext cx="20071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ZCQL COLUMN CAP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4626864" y="4133088"/>
            <a:ext cx="2007108" cy="566928"/>
          </a:xfrm>
          <a:prstGeom prst="roundRect">
            <a:avLst>
              <a:gd name="adj" fmla="val 8065"/>
            </a:avLst>
          </a:prstGeom>
          <a:solidFill>
            <a:srgbClr val="F3F4F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626864" y="4169664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626864" y="4453128"/>
            <a:ext cx="20071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AVAILABLE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6743700" y="4133088"/>
            <a:ext cx="2007108" cy="566928"/>
          </a:xfrm>
          <a:prstGeom prst="roundRect">
            <a:avLst>
              <a:gd name="adj" fmla="val 8065"/>
            </a:avLst>
          </a:prstGeom>
          <a:solidFill>
            <a:srgbClr val="F3F4F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743700" y="4169664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/v1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743700" y="4453128"/>
            <a:ext cx="20071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FROM DAY ONE</a:t>
            </a:r>
            <a:endParaRPr lang="en-US" sz="600" dirty="0"/>
          </a:p>
        </p:txBody>
      </p:sp>
      <p:sp>
        <p:nvSpPr>
          <p:cNvPr id="33" name="Text 30"/>
          <p:cNvSpPr txBox="1"/>
          <p:nvPr/>
        </p:nvSpPr>
        <p:spPr>
          <a:xfrm>
            <a:off x="393192" y="4754880"/>
            <a:ext cx="8357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ZCQL truncates silently at 300, so every list endpoint paginates; with no transactions, every write is idempotent on a natural key.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" y="713232"/>
            <a:ext cx="8357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deliberately switched off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393192" y="103327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honest answer is "not yet verified", the deployment is closed rather than open.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3192" y="1371600"/>
            <a:ext cx="8357616" cy="713232"/>
          </a:xfrm>
          <a:prstGeom prst="roundRect">
            <a:avLst>
              <a:gd name="adj" fmla="val 6410"/>
            </a:avLst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393192" y="1371600"/>
            <a:ext cx="45720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76072" y="13716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ALLOW_UNAUTH_OFFICER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2679192" y="1371600"/>
            <a:ext cx="5888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 to false. Whether Catalyst Auth reaches an Advanced I/O function is unverified, so an unconfigured deployment refuses officer traffic rather than trusting a header.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93192" y="2194560"/>
            <a:ext cx="8357616" cy="713232"/>
          </a:xfrm>
          <a:prstGeom prst="roundRect">
            <a:avLst>
              <a:gd name="adj" fmla="val 6410"/>
            </a:avLst>
          </a:prstGeom>
          <a:solidFill>
            <a:srgbClr val="FA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393192" y="2194560"/>
            <a:ext cx="45720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6072" y="21945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PUBLIC_REPORT_LAYER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2679192" y="2194560"/>
            <a:ext cx="5888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 to false. A public map of unverified allegations is a reputational and legal hazard even aggregated; the aggregation makes it defensible, not wise.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93192" y="3017520"/>
            <a:ext cx="8357616" cy="713232"/>
          </a:xfrm>
          <a:prstGeom prst="roundRect">
            <a:avLst>
              <a:gd name="adj" fmla="val 6410"/>
            </a:avLst>
          </a:prstGeom>
          <a:solidFill>
            <a:srgbClr val="FAFAFA"/>
          </a:solidFill>
          <a:ln/>
        </p:spPr>
      </p:sp>
      <p:sp>
        <p:nvSpPr>
          <p:cNvPr id="14" name="Shape 11"/>
          <p:cNvSpPr/>
          <p:nvPr/>
        </p:nvSpPr>
        <p:spPr>
          <a:xfrm>
            <a:off x="393192" y="3017520"/>
            <a:ext cx="45720" cy="7132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6072" y="301752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OTP_DEMO_MODE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2679192" y="3017520"/>
            <a:ext cx="5888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Brevo key the OTP degrades to a visible fixed code — never to a silent send-nothing that looks like success.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93192" y="3840480"/>
            <a:ext cx="8357616" cy="713232"/>
          </a:xfrm>
          <a:prstGeom prst="roundRect">
            <a:avLst>
              <a:gd name="adj" fmla="val 6410"/>
            </a:avLst>
          </a:prstGeom>
          <a:solidFill>
            <a:srgbClr val="FAFAFA"/>
          </a:solidFill>
          <a:ln/>
        </p:spPr>
      </p:sp>
      <p:sp>
        <p:nvSpPr>
          <p:cNvPr id="18" name="Shape 15"/>
          <p:cNvSpPr/>
          <p:nvPr/>
        </p:nvSpPr>
        <p:spPr>
          <a:xfrm>
            <a:off x="393192" y="3840480"/>
            <a:ext cx="45720" cy="7132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76072" y="38404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Stratus attachments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2679192" y="3840480"/>
            <a:ext cx="5888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Designed, not built. The endpoints return an error rather than pretending to succeed, because a silent no-op would look like a working upload and lose evidence.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93192" y="4572000"/>
            <a:ext cx="8357616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9496" y="4572000"/>
            <a:ext cx="8065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OTP rather than SMS: India’s DLT regime requires entity registration and template approval before a transactional SMS delivers, and Catalyst has no SMS service. contact_type keeps the channel swappable.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irum\OneDrive\Desktop\PRAHARI\tmpl\ppt\media\image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PRAHARI - KSP Datathon 2026</dc:title>
  <dc:subject>PptxGenJS Presentation</dc:subject>
  <dc:creator>Team Fault Line</dc:creator>
  <cp:lastModifiedBy>Team Fault Line</cp:lastModifiedBy>
  <cp:revision>1</cp:revision>
  <dcterms:created xsi:type="dcterms:W3CDTF">2026-08-30T09:23:40Z</dcterms:created>
  <dcterms:modified xsi:type="dcterms:W3CDTF">2026-08-30T09:23:40Z</dcterms:modified>
</cp:coreProperties>
</file>