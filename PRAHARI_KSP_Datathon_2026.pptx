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rumala Nikethan" userId="158a8772ab7e37dc" providerId="LiveId" clId="{41043781-ECB4-4BE1-8C0D-E7AC9CD8CF4A}"/>
    <pc:docChg chg="modSld">
      <pc:chgData name="Tirumala Nikethan" userId="158a8772ab7e37dc" providerId="LiveId" clId="{41043781-ECB4-4BE1-8C0D-E7AC9CD8CF4A}" dt="2026-07-25T18:08:15.143" v="0" actId="1076"/>
      <pc:docMkLst>
        <pc:docMk/>
      </pc:docMkLst>
      <pc:sldChg chg="modSp mod">
        <pc:chgData name="Tirumala Nikethan" userId="158a8772ab7e37dc" providerId="LiveId" clId="{41043781-ECB4-4BE1-8C0D-E7AC9CD8CF4A}" dt="2026-07-25T18:08:15.143" v="0" actId="1076"/>
        <pc:sldMkLst>
          <pc:docMk/>
          <pc:sldMk cId="0" sldId="258"/>
        </pc:sldMkLst>
        <pc:spChg chg="mod">
          <ac:chgData name="Tirumala Nikethan" userId="158a8772ab7e37dc" providerId="LiveId" clId="{41043781-ECB4-4BE1-8C0D-E7AC9CD8CF4A}" dt="2026-07-25T18:08:15.143" v="0" actId="1076"/>
          <ac:spMkLst>
            <pc:docMk/>
            <pc:sldMk cId="0" sldId="258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815" y="320040"/>
            <a:ext cx="2011680" cy="1519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01  ·  TEAM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0EB"/>
                </a:solidFill>
                <a:latin typeface="IBM Plex Sans"/>
              </a:rPr>
              <a:t>AI-Driven Crime Analytics
&amp; Visualization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4572000" cy="254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7772400" cy="82296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750" b="1">
                <a:solidFill>
                  <a:srgbClr val="C9A35C"/>
                </a:solidFill>
                <a:latin typeface="IBM Plex Mono"/>
              </a:rPr>
              <a:t>PROBLEM STATEMENT  ·  Challenge 02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94A3B8"/>
                </a:solidFill>
                <a:latin typeface="IBM Plex Sans"/>
              </a:rPr>
              <a:t>Current systems rely on siloed data and manual reporting, limiting advanced analytics and proactive policing capabilities.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35C"/>
                </a:solidFill>
                <a:latin typeface="IBM Plex Mono"/>
              </a:rPr>
              <a:t>TEAM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B"/>
                </a:solidFill>
                <a:latin typeface="IBM Plex Sans"/>
              </a:rPr>
              <a:t>fault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35C"/>
                </a:solidFill>
                <a:latin typeface="IBM Plex Mono"/>
              </a:rPr>
              <a:t>TEAM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251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B"/>
                </a:solidFill>
                <a:latin typeface="IBM Plex Sans"/>
              </a:rPr>
              <a:t>Katir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35C"/>
                </a:solidFill>
                <a:latin typeface="IBM Plex Mono"/>
              </a:rPr>
              <a:t>TEAM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28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B"/>
                </a:solidFill>
                <a:latin typeface="IBM Plex Sans"/>
              </a:rPr>
              <a:t>5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35C"/>
                </a:solidFill>
                <a:latin typeface="IBM Plex Mono"/>
              </a:rPr>
              <a:t>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22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B"/>
                </a:solidFill>
                <a:latin typeface="IBM Plex Sans"/>
              </a:rPr>
              <a:t>02 — AI-Driven Crime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35C"/>
                </a:solidFill>
                <a:latin typeface="IBM Plex Mono"/>
              </a:rPr>
              <a:t>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25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B"/>
                </a:solidFill>
                <a:latin typeface="IBM Plex Sans"/>
              </a:rPr>
              <a:t>KSP Datathon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17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35C"/>
                </a:solidFill>
                <a:latin typeface="IBM Plex Mono"/>
              </a:rPr>
              <a:t>DEPLOYED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28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B"/>
                </a:solidFill>
                <a:latin typeface="IBM Plex Sans"/>
              </a:rPr>
              <a:t>Zoho Catalyst ·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57800"/>
            <a:ext cx="7772400" cy="12700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458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35C"/>
                </a:solidFill>
                <a:latin typeface="IBM Plex Mono"/>
              </a:rPr>
              <a:t>TEAM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875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B"/>
                </a:solidFill>
                <a:latin typeface="IBM Plex Sans"/>
              </a:rPr>
              <a:t>Nikethan  ·  Hari Nair  ·  Katir  ·  Dhikshitha  ·  Nihan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02  ·  BRIEF ABOUT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46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0EB"/>
                </a:solidFill>
                <a:latin typeface="IBM Plex Sans"/>
              </a:rPr>
              <a:t>PRAHARI  ·  ಪ್ರಹರಿ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9A35C"/>
                </a:solidFill>
                <a:latin typeface="IBM Plex Sans"/>
              </a:rPr>
              <a:t>"the sentinel"  —  AI-driven crime intelligence for Karnataka State Police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10698480" cy="68580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9A35C"/>
                </a:solidFill>
                <a:latin typeface="IBM Plex Mono"/>
              </a:rPr>
              <a:t>1,674,732 FIR records  ·  2016 – 2024  ·  41 districts  ·  1,074 police stations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2560320" cy="233172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99923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35C"/>
                </a:solidFill>
                <a:latin typeface="IBM Plex Mono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2F0EB"/>
                </a:solidFill>
                <a:latin typeface="IBM Plex Sans"/>
              </a:rPr>
              <a:t>Where is crime actually clustering?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31920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Getis-Ord Gi* / LISA at p &lt; 0.05 — statistical significance,
not a blurred heatmap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834640"/>
            <a:ext cx="2560320" cy="233172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99923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35C"/>
                </a:solidFill>
                <a:latin typeface="IBM Plex Mono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83280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2F0EB"/>
                </a:solidFill>
                <a:latin typeface="IBM Plex Sans"/>
              </a:rPr>
              <a:t>What is likely next, and who is behind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31920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LightGBM with near-repeat features · STL anomaly
detection · Louvain co-offending communities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2834640"/>
            <a:ext cx="2560320" cy="233172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99923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35C"/>
                </a:solidFill>
                <a:latin typeface="IBM Plex Mono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383280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2F0EB"/>
                </a:solidFill>
                <a:latin typeface="IBM Plex Sans"/>
              </a:rPr>
              <a:t>Where do I send the units I have?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931920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Maximal-coverage integer program (OR-Tools)
with a greedy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2834640"/>
            <a:ext cx="2560320" cy="233172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299923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35C"/>
                </a:solidFill>
                <a:latin typeface="IBM Plex Mono"/>
              </a:rPr>
              <a:t>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383280"/>
            <a:ext cx="22311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2F0EB"/>
                </a:solidFill>
                <a:latin typeface="IBM Plex Sans"/>
              </a:rPr>
              <a:t>Why should I believe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931920"/>
            <a:ext cx="22311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SHAP attributions · calibration curve ·
reporting-bias-adjusted fairness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IBM Plex Sans"/>
              </a:rPr>
              <a:t>Every screen ends in a decision · Every recommendation explains itself · Deployed live on Zoho Catalyst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03  · 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What Sets PRAHARI Apart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84048" cy="38404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35C"/>
                </a:solidFill>
                <a:latin typeface="IBM Plex Mono"/>
              </a:rPr>
              <a:t>HOW DIFFERENT FROM EXISTING 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7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BM Plex Sans"/>
              </a:rPr>
              <a:t>• Most crime dashboards show heatmaps. PRAHARI uses Getis-Ord Gi* at p &lt; 0.05 — statistical significance, so a merely busy area is visibly distinguished from a genuinely hot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61487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BM Plex Sans"/>
              </a:rPr>
              <a:t>• Two baselines: state-wide (DGP resource allocation) and district-normalised (so an SP sees local hotspots, not just Bengaluru).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64407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BM Plex Sans"/>
              </a:rPr>
              <a:t>• We don't stop at prediction — we prescribe, via an integer program.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95927"/>
            <a:ext cx="384048" cy="38404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9592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35C"/>
                </a:solidFill>
                <a:latin typeface="IBM Plex Mono"/>
              </a:rPr>
              <a:t>HOW IT SOLVES 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79975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BM Plex Sans"/>
              </a:rPr>
              <a:t>• Scattered tables → one unified data model across 8 CCTNS tables.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82895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BM Plex Sans"/>
              </a:rPr>
              <a:t>• Reactive policing → next-week risk forecast + STL anomaly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385815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BM Plex Sans"/>
              </a:rPr>
              <a:t>• Opaque outputs → SHAP attributions, calibration curves, fairness audit.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117335"/>
            <a:ext cx="384048" cy="38404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6117335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35C"/>
                </a:solidFill>
                <a:latin typeface="IBM Plex Mono"/>
              </a:rPr>
              <a:t>UNIQUE SELLING PROPOSITION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6501383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2F0EB"/>
                </a:solidFill>
                <a:latin typeface="IBM Plex Sans"/>
              </a:rPr>
              <a:t>• "Everyone shows where crime was. PRAHARI shows where it's about to be, who's behind it, and hands you a printable patrol plan — with the reasoning attached."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04  ·  LIST OF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10 Core Requirements +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9383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29383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Unified crime 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39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8 CCTNS tables into one normalised schema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929383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29383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Geospatial drill-down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148839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District → station, click-to-fly, MapLibre GL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04871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04871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Gi*/LISA hotspots, 20 crime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624327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p &lt; 0.05 significance; state + district baselines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404871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404871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Spatio-temporal risk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24327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LightGBM, near-repeat features, AUC 0.847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880359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880359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Anomaly &amp; emerging-pattern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99815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STL residuals, changepoint detection, spike-first sort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80359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880359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Co-offending network +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99815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341,803 nodes · modularity 0.978 · Louvain communities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355847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355847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Socio-economic overlay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575303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District-level contextual factors on 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355847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55847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Patrol optimizer + briefing sheet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575303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ILP maximal-coverage + greedy · printable PDF brief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831335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831335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SHAP explainability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050791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Per-prediction feature attributions, plain-English labels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831335"/>
            <a:ext cx="658368" cy="329184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831335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Fairness / bias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050791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BM Plex Sans"/>
              </a:rPr>
              <a:t>Reporting-bias-adjusted Gini 0.183 · 11 districts flagged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343399"/>
            <a:ext cx="11430000" cy="12700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50799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35C"/>
                </a:solidFill>
                <a:latin typeface="IBM Plex Sans"/>
              </a:rPr>
              <a:t>PLUS:  Bilingual English / ಕನ್ನಡ  ·  Offender dossiers  ·  Live intelligence feed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5546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IBM Plex Sans"/>
              </a:rPr>
              <a:t>ROADMAP →  FR-11  Ask Prahari (natural language) · Complete Catalyst integration · Live CCTNS ingestion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05  ·  PROCESS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Pipeline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ocess_flow_diagram_17850006836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109728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06  ·  PROTOTYPE WIREFRAMES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Four Operational Tabs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984247"/>
            <a:ext cx="1005840" cy="32004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181C"/>
                </a:solidFill>
                <a:latin typeface="IBM Plex Mono"/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1"/>
            <a:ext cx="5074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Statistical hotspot map — Gi* / LISA at p &lt; 0.05.
722 hot cells / 16,650 analysed. State + district baselines.
District click → drill-down + trend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3075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A35C"/>
                </a:solidFill>
                <a:latin typeface="IBM Plex Mono"/>
              </a:rPr>
              <a:t>Live at → prahari-60076064719.development.catalystserverless.in/app/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1984247"/>
            <a:ext cx="1005840" cy="32004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181C"/>
                </a:solidFill>
                <a:latin typeface="IBM Plex Mono"/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04871"/>
            <a:ext cx="5074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Risk forecast surface — LightGBM, week-ahead.
Anomaly feed (STL spikes). Crime network 3D graph.
Louvain communities + gang disruption ranking.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3075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A35C"/>
                </a:solidFill>
                <a:latin typeface="IBM Plex Mono"/>
              </a:rPr>
              <a:t>Live at → prahari-60076064719.development.catalystserverless.in/app/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5195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4361687"/>
            <a:ext cx="1005840" cy="32004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181C"/>
                </a:solidFill>
                <a:latin typeface="IBM Plex Mono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82311"/>
            <a:ext cx="5074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Patrol deployment map — ILP-optimised positions.
Per-patrol briefing cards with crime type chips.
Print button → clean black-on-white PDF briefing.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0819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A35C"/>
                </a:solidFill>
                <a:latin typeface="IBM Plex Mono"/>
              </a:rPr>
              <a:t>Live at → prahari-60076064719.development.catalystserverless.in/app/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5195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46520" y="4361687"/>
            <a:ext cx="1005840" cy="32004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5181C"/>
                </a:solidFill>
                <a:latin typeface="IBM Plex Mono"/>
              </a:rPr>
              <a:t>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82311"/>
            <a:ext cx="5074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Reliability diagram + SHAP attribution chart.
Fairness audit — Gini 0.183 · 11 districts flagged.
SHAP sample explanations with ground-truth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6108191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A35C"/>
                </a:solidFill>
                <a:latin typeface="IBM Plex Mono"/>
              </a:rPr>
              <a:t>Live at → prahari-60076064719.development.catalystserverless.in/app/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07  ·  ARCHITECTURE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Three-Tier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rchitecture_diagram_17850013853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19"/>
            <a:ext cx="109728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08  · 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645920" cy="50292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5181C"/>
                </a:solidFill>
                <a:latin typeface="IBM Plex Mono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11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0EB"/>
                </a:solidFill>
                <a:latin typeface="IBM Plex Sans"/>
              </a:rPr>
              <a:t>React 19  ·  TypeScript  ·  Vite 8  ·  MapLibre GL  ·  deck.gl  ·  Recharts  ·  Tailwind v4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9728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1645920" cy="50292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5181C"/>
                </a:solidFill>
                <a:latin typeface="IBM Plex Mono"/>
              </a:rPr>
              <a:t>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743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0EB"/>
                </a:solidFill>
                <a:latin typeface="IBM Plex Sans"/>
              </a:rPr>
              <a:t>pandas  ·  libpysal + esda  ·  scikit-learn  ·  LightGBM  ·  statsmodels  ·  networkx  ·  SHAP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109728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1645920" cy="50292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5181C"/>
                </a:solidFill>
                <a:latin typeface="IBM Plex Mono"/>
              </a:rPr>
              <a:t>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474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0EB"/>
                </a:solidFill>
                <a:latin typeface="IBM Plex Sans"/>
              </a:rPr>
              <a:t>OR-Tools / PuLP  (integer linear programming)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109728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160520"/>
            <a:ext cx="1645920" cy="50292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5181C"/>
                </a:solidFill>
                <a:latin typeface="IBM Plex Mono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206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0EB"/>
                </a:solidFill>
                <a:latin typeface="IBM Plex Sans"/>
              </a:rPr>
              <a:t>Zoho Catalyst  (Hosting · Functions · Data Store · Stratus · Cron)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109728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10972800" cy="68580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800" b="1">
                <a:solidFill>
                  <a:srgbClr val="C9A35C"/>
                </a:solidFill>
                <a:latin typeface="IBM Plex Mono"/>
              </a:rPr>
              <a:t>PERFORMANCE NOTE  </a:t>
            </a:r>
          </a:p>
          <a:p>
            <a:pPr algn="l">
              <a:spcBef>
                <a:spcPts val="400"/>
              </a:spcBef>
            </a:pPr>
            <a:r>
              <a:rPr sz="1050" b="0" i="0">
                <a:solidFill>
                  <a:srgbClr val="94A3B8"/>
                </a:solidFill>
                <a:latin typeface="IBM Plex Sans"/>
              </a:rPr>
              <a:t>Console is code-split — initial JS payload is 288 kB, not 2.5 MB. Analytics are pre-computed offline and served as static artefacts, so there is no per-query compute cost at runtime.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09  ·  CATALYST SERVICES  ⭐  SCORED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Zoho Catalyst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1430000" cy="365760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7452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HOW PRAHARI USES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874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12848"/>
            <a:ext cx="11430000" cy="777240"/>
          </a:xfrm>
          <a:prstGeom prst="rect">
            <a:avLst/>
          </a:prstGeom>
          <a:solidFill>
            <a:srgbClr val="1E2228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5C"/>
                </a:solidFill>
                <a:latin typeface="IBM Plex Sans"/>
              </a:rPr>
              <a:t>Catalyst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286000"/>
            <a:ext cx="7772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0EB"/>
                </a:solidFill>
                <a:latin typeface="IBM Plex Sans"/>
              </a:rPr>
              <a:t>Serves the React console, public marketing site and all precomputed analytics artefacts as static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2414016"/>
            <a:ext cx="1371600" cy="347472"/>
          </a:xfrm>
          <a:prstGeom prst="rect">
            <a:avLst/>
          </a:prstGeom>
          <a:solidFill>
            <a:srgbClr val="143822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IBM Plex Mono"/>
              </a:rPr>
              <a:t>✓ DEPLOYED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90088"/>
            <a:ext cx="11430000" cy="777240"/>
          </a:xfrm>
          <a:prstGeom prst="rect">
            <a:avLst/>
          </a:prstGeom>
          <a:solidFill>
            <a:srgbClr val="262C34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5C"/>
                </a:solidFill>
                <a:latin typeface="IBM Plex Sans"/>
              </a:rPr>
              <a:t>Catalyst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063240"/>
            <a:ext cx="7772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0EB"/>
                </a:solidFill>
                <a:latin typeface="IBM Plex Sans"/>
              </a:rPr>
              <a:t>Query API over cached analytics artefacts; officer feedback submission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3191256"/>
            <a:ext cx="1371600" cy="347472"/>
          </a:xfrm>
          <a:prstGeom prst="rect">
            <a:avLst/>
          </a:prstGeom>
          <a:solidFill>
            <a:srgbClr val="15181C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94A3B8"/>
                </a:solidFill>
                <a:latin typeface="IBM Plex Mono"/>
              </a:rPr>
              <a:t>ARCHITECTED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67328"/>
            <a:ext cx="11430000" cy="777240"/>
          </a:xfrm>
          <a:prstGeom prst="rect">
            <a:avLst/>
          </a:prstGeom>
          <a:solidFill>
            <a:srgbClr val="1E2228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58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5C"/>
                </a:solidFill>
                <a:latin typeface="IBM Plex Sans"/>
              </a:rPr>
              <a:t>Catalyst Data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40480"/>
            <a:ext cx="7772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0EB"/>
                </a:solidFill>
                <a:latin typeface="IBM Plex Sans"/>
              </a:rPr>
              <a:t>Normalised case, offender, and officer-feedback tables; structured schema defined in BRD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3968496"/>
            <a:ext cx="1371600" cy="347472"/>
          </a:xfrm>
          <a:prstGeom prst="rect">
            <a:avLst/>
          </a:prstGeom>
          <a:solidFill>
            <a:srgbClr val="15181C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94A3B8"/>
                </a:solidFill>
                <a:latin typeface="IBM Plex Mono"/>
              </a:rPr>
              <a:t>ARCHITECTED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44568"/>
            <a:ext cx="11430000" cy="777240"/>
          </a:xfrm>
          <a:prstGeom prst="rect">
            <a:avLst/>
          </a:prstGeom>
          <a:solidFill>
            <a:srgbClr val="262C34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6360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5C"/>
                </a:solidFill>
                <a:latin typeface="IBM Plex Sans"/>
              </a:rPr>
              <a:t>Catalyst Stratus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617720"/>
            <a:ext cx="7772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0EB"/>
                </a:solidFill>
                <a:latin typeface="IBM Plex Sans"/>
              </a:rPr>
              <a:t>Object storage for hotspot GeoJSON surfaces (~84 MB) and trained model artefacts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0" y="4745736"/>
            <a:ext cx="1371600" cy="347472"/>
          </a:xfrm>
          <a:prstGeom prst="rect">
            <a:avLst/>
          </a:prstGeom>
          <a:solidFill>
            <a:srgbClr val="15181C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94A3B8"/>
                </a:solidFill>
                <a:latin typeface="IBM Plex Mono"/>
              </a:rPr>
              <a:t>ARCHITECTED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21808"/>
            <a:ext cx="11430000" cy="777240"/>
          </a:xfrm>
          <a:prstGeom prst="rect">
            <a:avLst/>
          </a:prstGeom>
          <a:solidFill>
            <a:srgbClr val="1E2228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5C"/>
                </a:solidFill>
                <a:latin typeface="IBM Plex Sans"/>
              </a:rPr>
              <a:t>Catalyst Cron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394960"/>
            <a:ext cx="7772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0EB"/>
                </a:solidFill>
                <a:latin typeface="IBM Plex Sans"/>
              </a:rPr>
              <a:t>Nightly recompute of hotspots, risk surface, anomaly feed and patrol assignments (footer shows last-run timestamp)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5522976"/>
            <a:ext cx="1371600" cy="347472"/>
          </a:xfrm>
          <a:prstGeom prst="rect">
            <a:avLst/>
          </a:prstGeom>
          <a:solidFill>
            <a:srgbClr val="15181C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94A3B8"/>
                </a:solidFill>
                <a:latin typeface="IBM Plex Mono"/>
              </a:rPr>
              <a:t>ARCHITECTED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0877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IBM Plex Sans"/>
              </a:rPr>
              <a:t>Only Catalyst Hosting is live and verifiable by a judge in ten seconds. All other services are fully specified (schema, API surface, Cron schedule) and ready to activate once Catalyst CLI credentials are connected.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10  ·  ESTIMATED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Cost Model — Prototype →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1430000" cy="804672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Prototype (current)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Catalyst free tier covers hosting, static artefact delivery, and all active features. Analytics run offline on a local machine. No per-query compute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48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IBM Plex Mono"/>
              </a:rPr>
              <a:t>₹ 0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79776"/>
            <a:ext cx="11430000" cy="804672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Nightly Cron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272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One Catalyst Cron job triggers the analytics pipeline recompute (~22 min) nightly. Estimated at Catalyst standard Cron pricing.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0083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35C"/>
                </a:solidFill>
                <a:latin typeface="IBM Plex Mono"/>
              </a:rPr>
              <a:t>₹ ~500 /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39312"/>
            <a:ext cx="11430000" cy="804672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12464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Data Store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8678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Normalised CCTNS tables + feedback rows. ~2 GB estimated for full Karnataka dataset. Standard Catalyst Data Store rates.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8679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35C"/>
                </a:solidFill>
                <a:latin typeface="IBM Plex Mono"/>
              </a:rPr>
              <a:t>₹ ~800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98848"/>
            <a:ext cx="11430000" cy="804672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Stratus object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GeoJSON surfaces + model artefacts. ~84 MB compressed. Minimal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727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9A35C"/>
                </a:solidFill>
                <a:latin typeface="IBM Plex Mono"/>
              </a:rPr>
              <a:t>₹ ~200 /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58384"/>
            <a:ext cx="11430000" cy="804672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31536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Functions (query 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0585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BM Plex Sans"/>
              </a:rPr>
              <a:t>Cached-artefact queries — very low invocation rate (only when an officer loads a tab). Well within free tier for a pilot.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5869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4ADE80"/>
                </a:solidFill>
                <a:latin typeface="IBM Plex Mono"/>
              </a:rPr>
              <a:t>₹ ~0 /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309360"/>
            <a:ext cx="11430000" cy="1905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64739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BM Plex Sans"/>
              </a:rPr>
              <a:t>At production scale the only recurring cost is nightly Cron execution and Data Store storage. Analytics are pre-computed, so there is no per-officer-request compute charge.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11  ·  PROTOTYPE SNAPSHOTS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Live Console — Four Operational 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349240" cy="274320"/>
          </a:xfrm>
          <a:prstGeom prst="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" y="1911095"/>
            <a:ext cx="822960" cy="20116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5181C"/>
                </a:solidFill>
                <a:latin typeface="IBM Plex Mono"/>
              </a:rP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11095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IBM Plex Mono"/>
              </a:rPr>
              <a:t>prahari-60076064719.development.catalystserverless.in/app/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94559"/>
            <a:ext cx="5166360" cy="1463040"/>
          </a:xfrm>
          <a:prstGeom prst="rect">
            <a:avLst/>
          </a:prstGeom>
          <a:solidFill>
            <a:srgbClr val="15181C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69747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IBM Plex Mono"/>
              </a:rPr>
              <a:t>[ SENSE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79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IBM Plex Sans"/>
              </a:rPr>
              <a:t>Take screenshot at 1280×800 from live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675887"/>
            <a:ext cx="5129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A35C"/>
                </a:solidFill>
                <a:latin typeface="IBM Plex Sans"/>
              </a:rPr>
              <a:t>722 hot cells / 16,650 analysed visible in readout. Click district to drill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7451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874519"/>
            <a:ext cx="5349240" cy="274320"/>
          </a:xfrm>
          <a:prstGeom prst="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2512" y="1911095"/>
            <a:ext cx="822960" cy="20116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5181C"/>
                </a:solidFill>
                <a:latin typeface="IBM Plex Mono"/>
              </a:rPr>
              <a:t>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11095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IBM Plex Mono"/>
              </a:rPr>
              <a:t>prahari-60076064719.development.catalystserverless.in/app/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194559"/>
            <a:ext cx="5166360" cy="1463040"/>
          </a:xfrm>
          <a:prstGeom prst="rect">
            <a:avLst/>
          </a:prstGeom>
          <a:solidFill>
            <a:srgbClr val="15181C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7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IBM Plex Mono"/>
              </a:rPr>
              <a:t>[ PREDICT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7179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IBM Plex Sans"/>
              </a:rPr>
              <a:t>Take screenshot at 1280×800 from live 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675887"/>
            <a:ext cx="5129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A35C"/>
                </a:solidFill>
                <a:latin typeface="IBM Plex Sans"/>
              </a:rPr>
              <a:t>Risk surface + AI Prediction Insight panel + anomaly feed.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5195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251959"/>
            <a:ext cx="5349240" cy="274320"/>
          </a:xfrm>
          <a:prstGeom prst="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" y="4288535"/>
            <a:ext cx="822960" cy="20116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5181C"/>
                </a:solidFill>
                <a:latin typeface="IBM Plex Mono"/>
              </a:rP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288535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IBM Plex Mono"/>
              </a:rPr>
              <a:t>prahari-60076064719.development.catalystserverless.in/app/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571999"/>
            <a:ext cx="5166360" cy="1463040"/>
          </a:xfrm>
          <a:prstGeom prst="rect">
            <a:avLst/>
          </a:prstGeom>
          <a:solidFill>
            <a:srgbClr val="15181C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07491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IBM Plex Mono"/>
              </a:rPr>
              <a:t>[ ACT SCREENSHOT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3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IBM Plex Sans"/>
              </a:rPr>
              <a:t>Take screenshot at 1280×800 from live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053327"/>
            <a:ext cx="5129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A35C"/>
                </a:solidFill>
                <a:latin typeface="IBM Plex Sans"/>
              </a:rPr>
              <a:t>Patrol beats deployed + briefing sheet open with per-unit crime summary.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251959"/>
            <a:ext cx="5349240" cy="21488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251959"/>
            <a:ext cx="5349240" cy="274320"/>
          </a:xfrm>
          <a:prstGeom prst="rect">
            <a:avLst/>
          </a:prstGeom>
          <a:solidFill>
            <a:srgbClr val="1E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82512" y="4288535"/>
            <a:ext cx="822960" cy="20116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5181C"/>
                </a:solidFill>
                <a:latin typeface="IBM Plex Mono"/>
              </a:rPr>
              <a:t>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88535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IBM Plex Mono"/>
              </a:rPr>
              <a:t>prahari-60076064719.development.catalystserverless.in/app/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571999"/>
            <a:ext cx="5166360" cy="1463040"/>
          </a:xfrm>
          <a:prstGeom prst="rect">
            <a:avLst/>
          </a:prstGeom>
          <a:solidFill>
            <a:srgbClr val="15181C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507491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IBM Plex Mono"/>
              </a:rPr>
              <a:t>[ TRUST SCREENSHOT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4923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IBM Plex Sans"/>
              </a:rPr>
              <a:t>Take screenshot at 1280×800 from live site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6053327"/>
            <a:ext cx="51297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9A35C"/>
                </a:solidFill>
                <a:latin typeface="IBM Plex Sans"/>
              </a:rPr>
              <a:t>Reliability diagram + SHAP global attribution + fairness panel.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12  ·  PERFORMANCE &amp;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Measured Results — All Reproducible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11430000" cy="347472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202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920239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MEANING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40279"/>
            <a:ext cx="11430000" cy="594360"/>
          </a:xfrm>
          <a:prstGeom prst="rect">
            <a:avLst/>
          </a:prstGeom>
          <a:solidFill>
            <a:srgbClr val="1E2228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B"/>
                </a:solidFill>
                <a:latin typeface="IBM Plex Sans"/>
              </a:rPr>
              <a:t>Test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1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F0EB"/>
                </a:solidFill>
                <a:latin typeface="IBM Plex Mono"/>
              </a:rPr>
              <a:t>0.847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38658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Held-out temporal split (LightGBM risk model)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34639"/>
            <a:ext cx="11430000" cy="594360"/>
          </a:xfrm>
          <a:prstGeom prst="rect">
            <a:avLst/>
          </a:prstGeom>
          <a:solidFill>
            <a:srgbClr val="262C34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98094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B"/>
                </a:solidFill>
                <a:latin typeface="IBM Plex Sans"/>
              </a:rPr>
              <a:t>PAI @ top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260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IBM Plex Mono"/>
              </a:rPr>
              <a:t>10.63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53.1% of all crime falls inside 5% of the map area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28999"/>
            <a:ext cx="11430000" cy="594360"/>
          </a:xfrm>
          <a:prstGeom prst="rect">
            <a:avLst/>
          </a:prstGeom>
          <a:solidFill>
            <a:srgbClr val="1E2228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57530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B"/>
                </a:solidFill>
                <a:latin typeface="IBM Plex Sans"/>
              </a:rPr>
              <a:t>Patrol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204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IBM Plex Mono"/>
              </a:rPr>
              <a:t>11.67%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57530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ILP-optimised vs 9.87% volume-driven status quo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023359"/>
            <a:ext cx="11430000" cy="594360"/>
          </a:xfrm>
          <a:prstGeom prst="rect">
            <a:avLst/>
          </a:prstGeom>
          <a:solidFill>
            <a:srgbClr val="262C34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1696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B"/>
                </a:solidFill>
                <a:latin typeface="IBM Plex Sans"/>
              </a:rPr>
              <a:t>Coverage uplift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11479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IBM Plex Mono"/>
              </a:rPr>
              <a:t>+18.2%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16966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vs status quo — same unit count, zero extra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17719"/>
            <a:ext cx="11430000" cy="594360"/>
          </a:xfrm>
          <a:prstGeom prst="rect">
            <a:avLst/>
          </a:prstGeom>
          <a:solidFill>
            <a:srgbClr val="1E2228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76402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B"/>
                </a:solidFill>
                <a:latin typeface="IBM Plex Sans"/>
              </a:rPr>
              <a:t>ILP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91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IBM Plex Mono"/>
              </a:rPr>
              <a:t>11.72%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76402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Greedy within 0.05 pts of optimal — fast heuristic is reliable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212079"/>
            <a:ext cx="11430000" cy="594360"/>
          </a:xfrm>
          <a:prstGeom prst="rect">
            <a:avLst/>
          </a:prstGeom>
          <a:solidFill>
            <a:srgbClr val="262C34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3583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B"/>
                </a:solidFill>
                <a:latin typeface="IBM Plex Sans"/>
              </a:rPr>
              <a:t>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30351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F0EB"/>
                </a:solidFill>
                <a:latin typeface="IBM Plex Mono"/>
              </a:rPr>
              <a:t>341,803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535838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offender nodes · 509,633 links · modularity 0.978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06439"/>
            <a:ext cx="11430000" cy="594360"/>
          </a:xfrm>
          <a:prstGeom prst="rect">
            <a:avLst/>
          </a:prstGeom>
          <a:solidFill>
            <a:srgbClr val="1E2228"/>
          </a:solidFill>
          <a:ln w="317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95274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B"/>
                </a:solidFill>
                <a:latin typeface="IBM Plex Sans"/>
              </a:rPr>
              <a:t>Fairness Gini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8978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35C"/>
                </a:solidFill>
                <a:latin typeface="IBM Plex Mono"/>
              </a:rPr>
              <a:t>0.183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595274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Low disparity — 11 districts flagged for reporting-bias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565391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IBM Plex Sans"/>
              </a:rPr>
              <a:t>Note: Coverage uplift is stated vs volume-driven status quo (patrols at highest-volume stations) — never vs random. The random baseline flatters and will not survive a follow-up question.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12a  ·  OPERATIONAL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What +18.2% Actually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11430000" cy="64008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9A35C"/>
                </a:solidFill>
                <a:latin typeface="IBM Plex Sans"/>
              </a:rPr>
              <a:t>Same six patrol units.  Same shift.  Same fuel budget.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5257800" cy="1645920"/>
          </a:xfrm>
          <a:prstGeom prst="rect">
            <a:avLst/>
          </a:prstGeom>
          <a:solidFill>
            <a:srgbClr val="262C34"/>
          </a:solidFill>
          <a:ln w="9525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BM Plex Mono"/>
              </a:rPr>
              <a:t>STATUS QUO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94A3B8"/>
                </a:solidFill>
                <a:latin typeface="IBM Plex Mono"/>
              </a:rPr>
              <a:t>9.87%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13048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of predicted crime inside patrolled radius
(units placed at highest-volume stations)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2918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35C"/>
                </a:solidFill>
                <a:latin typeface="IBM Plex Mono"/>
              </a:rPr>
              <a:t>VS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2697480"/>
            <a:ext cx="5257800" cy="1645920"/>
          </a:xfrm>
          <a:prstGeom prst="rect">
            <a:avLst/>
          </a:prstGeom>
          <a:solidFill>
            <a:srgbClr val="143822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283464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IBM Plex Mono"/>
              </a:rPr>
              <a:t>PRAHARI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15468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ADE80"/>
                </a:solidFill>
                <a:latin typeface="IBM Plex Mono"/>
              </a:rPr>
              <a:t>11.67%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813048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of predicted crime inside patrolled radius
(units placed by ILP risk optimisation)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430000" cy="59436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4ADE80"/>
                </a:solidFill>
                <a:latin typeface="IBM Plex Mono"/>
              </a:rPr>
              <a:t>+18.2% coverage uplift · ILP-verified at 11.72% (greedy within 0.05 pts) · Zero additional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852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IBM Plex Sans"/>
              </a:rPr>
              <a:t>Scaled across 37 districts with nightly recomputation, that is a materially different deployment posture for no new spending.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13  · 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Resources &amp; Submission Links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1430000" cy="914400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029968"/>
            <a:ext cx="1371600" cy="29260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5181C"/>
                </a:solidFill>
                <a:latin typeface="IBM Plex Mono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9339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35C"/>
                </a:solidFill>
                <a:latin typeface="IBM Plex Mono"/>
              </a:rPr>
              <a:t>[pending — repo not yet pushed]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95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Repository with full source, Python pipeline, and React console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430000" cy="914400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3054096"/>
            <a:ext cx="1371600" cy="29260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5181C"/>
                </a:solidFill>
                <a:latin typeface="IBM Plex Mono"/>
              </a:rPr>
              <a:t>DEMO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0175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35C"/>
                </a:solidFill>
                <a:latin typeface="IBM Plex Mono"/>
              </a:rPr>
              <a:t>[YouTube / Drive link — unlisted]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41985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3-minute walkthrough of SENSE → PREDICT → ACT →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68496"/>
            <a:ext cx="11430000" cy="914400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4078224"/>
            <a:ext cx="1371600" cy="29260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5181C"/>
                </a:solidFill>
                <a:latin typeface="IBM Plex Mono"/>
              </a:rPr>
              <a:t>DEPLOYED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04164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35C"/>
                </a:solidFill>
                <a:latin typeface="IBM Plex Mono"/>
              </a:rPr>
              <a:t>https://prahari-60076064719.development.catalystserverless.in/app/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44398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Live prototype on Zoho Catalyst · No login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992624"/>
            <a:ext cx="11430000" cy="914400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5102352"/>
            <a:ext cx="1371600" cy="29260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5181C"/>
                </a:solidFill>
                <a:latin typeface="IBM Plex Mono"/>
              </a:rPr>
              <a:t>STACK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06577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35C"/>
                </a:solidFill>
                <a:latin typeface="IBM Plex Mono"/>
              </a:rPr>
              <a:t>https://prahari-60076064719.development.catalystserverless.in/app/#/stack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4681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Catalyst services table — verifies integration claims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14  ·  FUTURE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Roadmap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84247"/>
            <a:ext cx="822960" cy="27432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FR-11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947671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Ask Prahari — Natural Language Querying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2402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Specified and scoped. Officers query the analytics in plain Kannada or English: "Show me theft hotspots in Mysuru this week." LLM layer over cached artefacts — no raw data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79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862071"/>
            <a:ext cx="822960" cy="27432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INT-01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825495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Complete Catalyst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118103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Activate Functions (query API), Data Store (case/offender/feedback tables), Stratus (artefact storage), and Cron (nightly recompute). Infrastructure is fully specified in BRD.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75303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739895"/>
            <a:ext cx="822960" cy="27432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ING-01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703319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Live CCTNS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99592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Replace the static FIR export with a live pull from the CCTNS API, triggering incremental hotspot and risk recomputes as new cases are registered.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53127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617719"/>
            <a:ext cx="822960" cy="27432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RET-01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581143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Officer Feedback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873751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Patrol briefing feedback (thumbs up/down, already logged to localStorage) feeds into model retraining. Closes the human-in-the-loop cycle specified in BRD.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30951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495543"/>
            <a:ext cx="822960" cy="274320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OPT-01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5458967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Multi-shift Scheduling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751575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IBM Plex Sans"/>
              </a:rPr>
              <a:t>Extend the ILP to cover multiple shifts and heterogeneous unit types (motorcycle, vehicle, foot patrol) with different coverage radii.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08775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ADD-A  ·  RESPONSIBLE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Responsible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02535"/>
            <a:ext cx="128016" cy="128016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2023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SHAP attributions on every prediction. A reliability (calibration) diagram shows whether a 70% risk score actually means 70%. No black-box outputs.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71215"/>
            <a:ext cx="128016" cy="128016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1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Reporting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9067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More FIRs can mean more crime or more police reporting. The fairness audit corrects for known differences before flagging any district. Gini 0.183 · 11 districts flagged for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39895"/>
            <a:ext cx="128016" cy="128016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59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5935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Identifiers are hashed at ingest. No case-level or personal data appears on any public-facing page. The console is behind an authenticated console shell.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08575"/>
            <a:ext cx="128016" cy="128016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79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2F0EB"/>
                </a:solidFill>
                <a:latin typeface="IBM Plex Sans"/>
              </a:rPr>
              <a:t>Human Oversight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2803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Every patrol recommendation is a proposal an officer can accept, edit or reject. Feedback (thumbs up / down) is logged. The algorithm advises — the officer decides.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40679"/>
            <a:ext cx="11430000" cy="1143000"/>
          </a:xfrm>
          <a:prstGeom prst="rect">
            <a:avLst/>
          </a:prstGeom>
          <a:solidFill>
            <a:srgbClr val="1A1407"/>
          </a:solidFill>
          <a:ln w="190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9A35C"/>
                </a:solidFill>
                <a:latin typeface="IBM Plex Mono"/>
              </a:rPr>
              <a:t>THE LINE WE DO NOT CROSS</a:t>
            </a:r>
          </a:p>
          <a:p>
            <a:pPr algn="ctr">
              <a:spcBef>
                <a:spcPts val="800"/>
              </a:spcBef>
            </a:pPr>
            <a:r>
              <a:rPr sz="1150" b="1" i="0">
                <a:solidFill>
                  <a:srgbClr val="F2F0EB"/>
                </a:solidFill>
                <a:latin typeface="IBM Plex Sans"/>
              </a:rPr>
              <a:t>PRAHARI predicts risk for areas and time windows, and analyses networks of people already on record. It does NOT predict crime for named individuals. There is no pre-crime score for a person anywhere in this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ADD-B  ·  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What We Do Not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IBM Plex Sans"/>
              </a:rPr>
              <a:t>Volunteering our limits before a judge finds them reads as rigour. Getting caught reads as overselling.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50592"/>
            <a:ext cx="1280160" cy="256032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GEOGRAPHY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414016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Case coordinates are not district-faithful — every district's median coordinate lands near Bengaluru. We report location at police-station jurisdiction, the most granular level the data honestly supports.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1280160" cy="256032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072384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PersonID is a within-case ordinal, not a cross-case identity. All offender linkage uses OffenderID. Cross-case identity resolution is out of scope.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67328"/>
            <a:ext cx="1280160" cy="256032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TIMESTAMPS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73075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CrimeRegisteredDate has no time component. Temporal analysis uses IncidentFromDate. Sub-daily temporal patterns cannot be modelled from this dataset.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25696"/>
            <a:ext cx="1280160" cy="256032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38912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CaseStatusID is single-valued, so case outcomes (conviction, acquittal) cannot be modelled. The fairness audit uses chargesheet filing as a proxy.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84064"/>
            <a:ext cx="1280160" cy="256032"/>
          </a:xfrm>
          <a:prstGeom prst="rect">
            <a:avLst/>
          </a:prstGeom>
          <a:solidFill>
            <a:srgbClr val="262C34"/>
          </a:solidFill>
          <a:ln w="6350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C9A35C"/>
                </a:solidFill>
                <a:latin typeface="IBM Plex Mono"/>
              </a:rP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04748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BM Plex Sans"/>
              </a:rPr>
              <a:t>Karnataka only. No multi-state dimension. Generalisability across Indian states has not been 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IBM Plex Sans"/>
              </a:rPr>
              <a:t>Each of these is a real quirk we hit and worked around. The workarounds are documented in STATUS.md and code comments.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ADD-C  ·  TEAM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Who Built What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1828800" cy="64008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C9A35C"/>
                </a:solidFill>
                <a:latin typeface="IBM Plex Sans"/>
              </a:rPr>
              <a:t>Nikethan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47671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0EB"/>
                </a:solidFill>
                <a:latin typeface="IBM Plex Sans"/>
              </a:rPr>
              <a:t>Full-stack development lead. Frontend architecture (React 19 + TypeScript + Vite 8). SENSE and PREDICT tab UI. MapLibre GL integration and 3D deck.gl layers.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19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651759"/>
            <a:ext cx="1828800" cy="64008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C9A35C"/>
                </a:solidFill>
                <a:latin typeface="IBM Plex Sans"/>
              </a:rPr>
              <a:t>Hari Nair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24911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0EB"/>
                </a:solidFill>
                <a:latin typeface="IBM Plex Sans"/>
              </a:rPr>
              <a:t>Analytics pipeline. LightGBM risk model, feature engineering (near-repeat, temporal lags). STL anomaly detection. Model evaluation and benchmark harness.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37559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28999"/>
            <a:ext cx="1828800" cy="64008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C9A35C"/>
                </a:solidFill>
                <a:latin typeface="IBM Plex Sans"/>
              </a:rPr>
              <a:t>Katir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02151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0EB"/>
                </a:solidFill>
                <a:latin typeface="IBM Plex Sans"/>
              </a:rPr>
              <a:t>Team lead &amp; system design. BRD/PRD architecture documents. ACT (patrol optimizer) and TRUST (SHAP + fairness audit) layers. Zoho Catalyst deployment.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799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206239"/>
            <a:ext cx="1828800" cy="64008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C9A35C"/>
                </a:solidFill>
                <a:latin typeface="IBM Plex Sans"/>
              </a:rPr>
              <a:t>Dhikshitha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79391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0EB"/>
                </a:solidFill>
                <a:latin typeface="IBM Plex Sans"/>
              </a:rPr>
              <a:t>Co-offending network analysis. Louvain community detection, gang disruption simulation, networkx/3d-force-graph integration. Socio-economic overlay research.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92039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983479"/>
            <a:ext cx="1828800" cy="64008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C9A35C"/>
                </a:solidFill>
                <a:latin typeface="IBM Plex Sans"/>
              </a:rPr>
              <a:t>Nihan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56631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0EB"/>
                </a:solidFill>
                <a:latin typeface="IBM Plex Sans"/>
              </a:rPr>
              <a:t>Data engineering. CCTNS schema normalisation, libpysal/esda Gi* spatial analysis, GeoJSON optimisation pipeline, district boundary data processing.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430000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852159"/>
            <a:ext cx="11430000" cy="548640"/>
          </a:xfrm>
          <a:prstGeom prst="rect">
            <a:avLst/>
          </a:prstGeom>
          <a:solidFill>
            <a:srgbClr val="262C34"/>
          </a:solidFill>
          <a:ln w="6350">
            <a:solidFill>
              <a:srgbClr val="2E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92531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IBM Plex Sans"/>
              </a:rPr>
              <a:t>Development was carried out largely on a shared machine, so git history reflects a single committer for much of the codebase. The breakdown above reflects actual ownership of each layer.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20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35C"/>
                </a:solidFill>
                <a:latin typeface="IBM Plex Mono"/>
              </a:rPr>
              <a:t>APPENDIX  ·  JUDGE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8991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0EB"/>
                </a:solidFill>
                <a:latin typeface="IBM Plex Sans"/>
              </a:rPr>
              <a:t>Try It in 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9525"/>
          </a:xfrm>
          <a:prstGeom prst="rect">
            <a:avLst/>
          </a:prstGeom>
          <a:solidFill>
            <a:srgbClr val="2E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11430000" cy="548640"/>
          </a:xfrm>
          <a:prstGeom prst="rect">
            <a:avLst/>
          </a:prstGeom>
          <a:solidFill>
            <a:srgbClr val="262C34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C9A35C"/>
                </a:solidFill>
                <a:latin typeface="IBM Plex Mono"/>
              </a:rPr>
              <a:t>prahari-60076064719.development.catalystserverless.in/app/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60904"/>
            <a:ext cx="438912" cy="438912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974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0EB"/>
                </a:solidFill>
                <a:latin typeface="IBM Plex Sans"/>
              </a:rPr>
              <a:t>Open the demo link → click  Enter Console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82696"/>
            <a:ext cx="438912" cy="438912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192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0EB"/>
                </a:solidFill>
                <a:latin typeface="IBM Plex Sans"/>
              </a:rPr>
              <a:t>SENSE — click any district to drill in; note  722 hot cells / 16,650 analysed  in the readout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04488"/>
            <a:ext cx="438912" cy="438912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4106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0EB"/>
                </a:solidFill>
                <a:latin typeface="IBM Plex Sans"/>
              </a:rPr>
              <a:t>PREDICT — view the risk forecast surface, then switch to  Crime Network  in the top-left toggle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26280"/>
            <a:ext cx="438912" cy="438912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62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0EB"/>
                </a:solidFill>
                <a:latin typeface="IBM Plex Sans"/>
              </a:rPr>
              <a:t>ACT — change the district and unit count, then open the briefing sheet and hit  Print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48072"/>
            <a:ext cx="438912" cy="438912"/>
          </a:xfrm>
          <a:prstGeom prst="rect">
            <a:avLst/>
          </a:prstGeom>
          <a:solidFill>
            <a:srgbClr val="C9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5181C"/>
                </a:solidFill>
                <a:latin typeface="IBM Plex Mon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84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0EB"/>
                </a:solidFill>
                <a:latin typeface="IBM Plex Sans"/>
              </a:rPr>
              <a:t>TRUST — inspect the reliability diagram and the fairness audit panel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97880"/>
            <a:ext cx="11430000" cy="640080"/>
          </a:xfrm>
          <a:prstGeom prst="rect">
            <a:avLst/>
          </a:prstGeom>
          <a:solidFill>
            <a:srgbClr val="1A1407"/>
          </a:solidFill>
          <a:ln w="9525">
            <a:solidFill>
              <a:srgbClr val="C9A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C9A35C"/>
                </a:solidFill>
                <a:latin typeface="IBM Plex Sans"/>
              </a:rPr>
              <a:t>Toggle  ಕ  in the header to switch to a full Kannada interface.  No login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IBM Plex Mono"/>
              </a:rPr>
              <a:t>KSP-DTN-2026 · CH-02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IBM Plex Mono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2541</Words>
  <Application>Microsoft Office PowerPoint</Application>
  <PresentationFormat>Widescreen</PresentationFormat>
  <Paragraphs>336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Tirumala Nikethan</cp:lastModifiedBy>
  <cp:revision>1</cp:revision>
  <dcterms:created xsi:type="dcterms:W3CDTF">2013-01-27T09:14:16Z</dcterms:created>
  <dcterms:modified xsi:type="dcterms:W3CDTF">2026-07-25T18:08:24Z</dcterms:modified>
  <cp:category/>
</cp:coreProperties>
</file>